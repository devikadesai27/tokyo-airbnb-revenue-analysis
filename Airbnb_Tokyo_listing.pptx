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320" r:id="rId2"/>
    <p:sldId id="321" r:id="rId3"/>
    <p:sldId id="353" r:id="rId4"/>
    <p:sldId id="351" r:id="rId5"/>
    <p:sldId id="346" r:id="rId6"/>
    <p:sldId id="347" r:id="rId7"/>
    <p:sldId id="349" r:id="rId8"/>
    <p:sldId id="350" r:id="rId9"/>
    <p:sldId id="331" r:id="rId10"/>
    <p:sldId id="354" r:id="rId11"/>
    <p:sldId id="336" r:id="rId12"/>
    <p:sldId id="333" r:id="rId13"/>
    <p:sldId id="345" r:id="rId14"/>
    <p:sldId id="341" r:id="rId15"/>
    <p:sldId id="343" r:id="rId16"/>
    <p:sldId id="34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5BB3B06-36E1-4BB2-8EDB-4C2BDF16A772}">
          <p14:sldIdLst>
            <p14:sldId id="320"/>
            <p14:sldId id="321"/>
            <p14:sldId id="353"/>
            <p14:sldId id="351"/>
            <p14:sldId id="346"/>
            <p14:sldId id="347"/>
            <p14:sldId id="349"/>
            <p14:sldId id="350"/>
            <p14:sldId id="331"/>
            <p14:sldId id="354"/>
            <p14:sldId id="336"/>
            <p14:sldId id="333"/>
            <p14:sldId id="345"/>
            <p14:sldId id="341"/>
            <p14:sldId id="343"/>
            <p14:sldId id="3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84D13B-27F3-166B-00BB-DC7746D950FF}" name="Rupal Gupta" initials="RG" userId="aaa6c021f3917331" providerId="Windows Live"/>
  <p188:author id="{95582667-6102-27E7-ED8E-01A166EB4B6B}" name="Guest User" initials="GU" userId="Guest User" providerId="Windows Live"/>
  <p188:author id="{048C82A8-5E22-912F-DBDB-41F631D57F0B}" name="chaitanya sharma" initials="cs" userId="ba1c80b87af59374" providerId="Windows Live"/>
  <p188:author id="{D56A09DB-D2EA-08EF-E7E2-557429125302}" name="yasmeen rajkotwalla" initials="yr" userId="c9bf585631ec5b2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E79"/>
    <a:srgbClr val="FF2600"/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4AE6B-8A0D-0F85-5172-1444DE5A16F9}" v="7" dt="2026-05-07T19:09:35.283"/>
    <p1510:client id="{0CC9A13A-86FF-8CD5-D2EB-789FD0FCE1EC}" v="752" dt="2026-05-05T19:30:33.521"/>
    <p1510:client id="{157A660F-5EB1-40AE-56FE-42E7EB42C139}" v="7" dt="2026-05-07T17:10:52.200"/>
    <p1510:client id="{1CD49E0B-FF53-6BCB-EF3F-DCB618B9D719}" v="51" dt="2026-05-05T20:57:29.094"/>
    <p1510:client id="{1FE2453C-692C-8D90-0393-4B9A6F5D9E15}" v="99" dt="2026-05-05T21:08:10.755"/>
    <p1510:client id="{29AEF6F1-CC12-05A3-D4A2-2EF644C3B24A}" v="13" dt="2026-05-06T16:16:45.484"/>
    <p1510:client id="{43231987-E015-8B40-CC56-FB1F83B8B74E}" v="16" dt="2026-05-06T23:06:55.968"/>
    <p1510:client id="{4B099EAA-4AB7-A4FC-271E-D75CDCD4A8CD}" v="265" dt="2026-05-05T19:45:13.809"/>
    <p1510:client id="{86189A55-9088-83BE-FF8E-1F1C140F3A55}" v="27" dt="2026-05-07T03:13:07.534"/>
    <p1510:client id="{A8FA24ED-DDF5-B1D9-8CF4-D388EC6C7A72}" v="778" dt="2026-05-06T06:00:19.458"/>
    <p1510:client id="{B7554ECB-586C-9D1C-E427-0DA28A269D81}" v="86" dt="2026-05-06T06:34:58.5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7291" autoAdjust="0"/>
  </p:normalViewPr>
  <p:slideViewPr>
    <p:cSldViewPr snapToGrid="0">
      <p:cViewPr varScale="1">
        <p:scale>
          <a:sx n="72" d="100"/>
          <a:sy n="72" d="100"/>
        </p:scale>
        <p:origin x="20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D15125-75CE-784A-AE9D-44F7611E7D0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1356F-0C3F-4F49-AF8B-358099BF5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97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0641B-EEF9-E0BB-F32E-BDC209E3C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3DF71-667D-222E-2EC8-DF106FE82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4CC2D-8DC1-0E69-D9BA-A8BE9DCF9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1000F-97AB-8D99-BCC8-8ACEB5A659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22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865DB-72AB-1721-E365-169B50B89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B908F-D59D-ED9B-5658-B175DA4C8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77E18-DE1E-2F70-B420-ADECCE6CC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79574-A719-5255-15DC-5D1BB1BB9C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04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FDE90-CEFC-77EB-A1A4-57BD8D82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D4868-20EF-D7E3-B109-D6C4A7864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C6483-C6EE-10B8-FE84-F0C26E648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D7857-5C77-B20D-63B5-56E0DA0BC6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06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F6EDC-4C13-7044-99A3-3DE86D8C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169031-EC6F-D366-DF76-599D68D0B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79411-1C55-B5CD-65C8-5457A6CE9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4E7AD-A665-9F1D-A59F-F677FCE90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05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8D997-BD69-2FFA-692A-2566BE3B1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56438B-CB05-3DB4-A3FC-166848193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881E5C-F3DE-6E47-CF21-E25AD50CE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CADE7-866F-C758-E7FD-1E06EA3F8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38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F0AB1-9239-9934-7D9C-62060002E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0BFA3D-46C1-7E56-8AB4-C99ADD749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1954D6-2392-304B-0088-F298EE94B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9F027-0D6D-6467-21E3-88CE06EDD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59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8CA6-FD89-942E-93BD-96CD57137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21938-6827-3721-A33D-FBC74F923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EB78D-B39B-C34B-BBB9-EE93E1300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94E56-5805-4472-59EC-421FE733E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208E2-3D48-3838-D388-359CF8962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76DA6-A6E4-74EB-FB8C-85AA3E3FA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3275CE-6F99-DEED-1EC7-312402921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1C1DA-959B-A033-88E6-9F09451F78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507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AFD8F-E62C-7B97-D471-0E8DCABD7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7C801C-2EB4-DC0A-58DA-310C16671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46B0F-B1B4-5F4D-6A1D-7ADE49748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2BF78-E127-7A8A-B551-47704B0E6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55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FD1FA-3A19-94F3-D1FE-E53327B5A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7C2A7-D3EF-85C9-AE4C-55DA52B5E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99C8E-2B9B-3AB8-C123-E53990CF2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1B21C-E3C5-2372-3425-83591D2649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452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68DFF-D591-9B7A-762F-69382497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01A87D-5B4D-08B1-C7EE-DBA524810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7D58D-8D83-6AD5-4757-ECD0FD9F3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68881-4B94-EF34-A436-9B60314194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125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CCF3D-1019-7AEB-26D8-51B02339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1C5450-8A2F-168A-526B-2EDD76194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58DDB-FB3D-2D6E-EFCA-F93F524D2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B8B1E-2766-3C50-B5F3-8B757930B8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27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3E4F9-9118-3CB2-8701-ABD12B6E6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A4BF1-4782-6760-84CC-149F28281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B20CB-EEAA-49CD-C487-CB23B365C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756EF-56F0-07ED-FF72-AAB65BBE4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9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FE8FB-1B39-8391-0E10-600123CE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C11A2-7886-5D14-F2C2-B523E5BCA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CF117-7CCD-06E4-5DE0-FA221CC54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80028-ED04-6094-FD7C-CE616C645D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946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5A292-4CE4-8088-62CD-1B6DCA0E0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3242C-AA65-7C3A-DB7B-BFC7AAD90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F711C-9810-A94C-A938-126494457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AB853-389C-0F6E-73B2-12F29AFCF3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12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F505-E8D4-4148-8D0B-7713EDF15901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234B-78D0-9446-B1BB-15EBA97D1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82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F505-E8D4-4148-8D0B-7713EDF15901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234B-78D0-9446-B1BB-15EBA97D1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18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F505-E8D4-4148-8D0B-7713EDF15901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234B-78D0-9446-B1BB-15EBA97D1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04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F505-E8D4-4148-8D0B-7713EDF15901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234B-78D0-9446-B1BB-15EBA97D1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07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F505-E8D4-4148-8D0B-7713EDF15901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234B-78D0-9446-B1BB-15EBA97D1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25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F505-E8D4-4148-8D0B-7713EDF15901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234B-78D0-9446-B1BB-15EBA97D1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21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F505-E8D4-4148-8D0B-7713EDF15901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234B-78D0-9446-B1BB-15EBA97D1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8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F505-E8D4-4148-8D0B-7713EDF15901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234B-78D0-9446-B1BB-15EBA97D1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66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F505-E8D4-4148-8D0B-7713EDF15901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234B-78D0-9446-B1BB-15EBA97D1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2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F505-E8D4-4148-8D0B-7713EDF15901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234B-78D0-9446-B1BB-15EBA97D1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86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F505-E8D4-4148-8D0B-7713EDF15901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234B-78D0-9446-B1BB-15EBA97D1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31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151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FF505-E8D4-4148-8D0B-7713EDF15901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234B-78D0-9446-B1BB-15EBA97D1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69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17D9-BD02-FA35-FC69-AA8E55FA2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2A091D-2039-6016-D8AC-DE8969E47030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59C3AD-8AF6-E1C6-74E1-B38C2CA4FC4D}"/>
              </a:ext>
            </a:extLst>
          </p:cNvPr>
          <p:cNvSpPr/>
          <p:nvPr/>
        </p:nvSpPr>
        <p:spPr>
          <a:xfrm>
            <a:off x="0" y="97536"/>
            <a:ext cx="73152" cy="676046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BD17982-90E1-A124-68A4-604D3A798806}"/>
              </a:ext>
            </a:extLst>
          </p:cNvPr>
          <p:cNvSpPr/>
          <p:nvPr/>
        </p:nvSpPr>
        <p:spPr>
          <a:xfrm>
            <a:off x="73152" y="6644640"/>
            <a:ext cx="12118848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FF19F0-B135-DEA9-4742-8714D8C924BC}"/>
              </a:ext>
            </a:extLst>
          </p:cNvPr>
          <p:cNvSpPr/>
          <p:nvPr/>
        </p:nvSpPr>
        <p:spPr>
          <a:xfrm>
            <a:off x="118872" y="1187933"/>
            <a:ext cx="5902406" cy="31763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2400" b="1"/>
          </a:p>
          <a:p>
            <a:endParaRPr lang="en-US" sz="2400" b="1"/>
          </a:p>
          <a:p>
            <a:endParaRPr lang="en-US" sz="2400" b="1"/>
          </a:p>
          <a:p>
            <a:r>
              <a:rPr lang="en-US" sz="2800" b="1"/>
              <a:t>Unlocking Revenue Drivers: </a:t>
            </a:r>
            <a:endParaRPr lang="en-US" sz="2800" b="1">
              <a:ea typeface="Calibri"/>
              <a:cs typeface="Calibri"/>
            </a:endParaRPr>
          </a:p>
          <a:p>
            <a:r>
              <a:rPr lang="en-US" sz="2800" b="1"/>
              <a:t>Tokyo Airbnb Market Analysis</a:t>
            </a:r>
            <a:endParaRPr lang="en-US" sz="2800" b="1">
              <a:ea typeface="Calibri"/>
              <a:cs typeface="Calibri"/>
            </a:endParaRPr>
          </a:p>
          <a:p>
            <a:endParaRPr lang="en-US" sz="2400" b="1"/>
          </a:p>
          <a:p>
            <a:endParaRPr lang="en-US" sz="2400" b="1"/>
          </a:p>
          <a:p>
            <a:r>
              <a:rPr lang="en-US"/>
              <a:t>Data-Driven Insights for Strategic Platform Growth</a:t>
            </a:r>
            <a:endParaRPr lang="en-US" b="1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F909E0F-BCA7-3CFB-0320-DBCD4E84CFE2}"/>
              </a:ext>
            </a:extLst>
          </p:cNvPr>
          <p:cNvSpPr/>
          <p:nvPr/>
        </p:nvSpPr>
        <p:spPr>
          <a:xfrm>
            <a:off x="5062555" y="567916"/>
            <a:ext cx="45719" cy="5722167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F2EC61C-C9C0-6045-8D7E-E4714F02DB2B}"/>
              </a:ext>
            </a:extLst>
          </p:cNvPr>
          <p:cNvSpPr/>
          <p:nvPr/>
        </p:nvSpPr>
        <p:spPr>
          <a:xfrm>
            <a:off x="5326988" y="5133761"/>
            <a:ext cx="11567930" cy="7413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dirty="0"/>
              <a:t>MKTG 5355 — Marketing Analytics  </a:t>
            </a:r>
          </a:p>
          <a:p>
            <a:endParaRPr lang="en-US" sz="1600" dirty="0"/>
          </a:p>
          <a:p>
            <a:r>
              <a:rPr lang="en-US" sz="1600" dirty="0"/>
              <a:t>            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9C579A80-E732-3E99-9BD8-0121F2AFF277}"/>
              </a:ext>
            </a:extLst>
          </p:cNvPr>
          <p:cNvSpPr/>
          <p:nvPr/>
        </p:nvSpPr>
        <p:spPr>
          <a:xfrm>
            <a:off x="5302275" y="4364241"/>
            <a:ext cx="6156076" cy="315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/>
              <a:t> Role: Airbnb Data Analyst  |  City: Tokyo, Japan </a:t>
            </a:r>
          </a:p>
        </p:txBody>
      </p:sp>
      <p:pic>
        <p:nvPicPr>
          <p:cNvPr id="3074" name="Picture 2" descr="Ota Ward in Tokyo Opens the AirBnB Door a Crack Further: More Rooms to be Available Near Haneda! – The Olympians">
            <a:extLst>
              <a:ext uri="{FF2B5EF4-FFF2-40B4-BE49-F238E27FC236}">
                <a16:creationId xmlns:a16="http://schemas.microsoft.com/office/drawing/2014/main" id="{127BD1A5-9D18-3E0D-8526-3604A4650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29" y="240677"/>
            <a:ext cx="781743" cy="781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45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E5637-52D9-9B6D-9C99-7076411EF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6C44E1-C64A-793F-378E-984BB2440DA4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FFC091E-7B34-8BD8-8629-FAB0971FD0A1}"/>
              </a:ext>
            </a:extLst>
          </p:cNvPr>
          <p:cNvSpPr/>
          <p:nvPr/>
        </p:nvSpPr>
        <p:spPr>
          <a:xfrm>
            <a:off x="0" y="97536"/>
            <a:ext cx="73152" cy="676046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0EA7A76-9AF2-6338-81EA-96C87AC7050B}"/>
              </a:ext>
            </a:extLst>
          </p:cNvPr>
          <p:cNvSpPr/>
          <p:nvPr/>
        </p:nvSpPr>
        <p:spPr>
          <a:xfrm>
            <a:off x="73152" y="6644640"/>
            <a:ext cx="12118848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FB09ADF-E403-0B03-9C01-1EB024A48D2B}"/>
              </a:ext>
            </a:extLst>
          </p:cNvPr>
          <p:cNvSpPr/>
          <p:nvPr/>
        </p:nvSpPr>
        <p:spPr>
          <a:xfrm>
            <a:off x="118872" y="1187933"/>
            <a:ext cx="5902406" cy="2381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/>
          </a:p>
          <a:p>
            <a:endParaRPr lang="en-US" sz="2400" b="1"/>
          </a:p>
          <a:p>
            <a:endParaRPr lang="en-US" sz="2400" b="1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2BB8361-B62D-3A4F-507B-C14512023B68}"/>
              </a:ext>
            </a:extLst>
          </p:cNvPr>
          <p:cNvSpPr/>
          <p:nvPr/>
        </p:nvSpPr>
        <p:spPr>
          <a:xfrm>
            <a:off x="38608" y="107277"/>
            <a:ext cx="7949349" cy="59188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>
                <a:ea typeface="Arial Black" pitchFamily="34" charset="-122"/>
                <a:cs typeface="Arial Black" pitchFamily="34" charset="-120"/>
              </a:rPr>
              <a:t> Business Problem</a:t>
            </a:r>
            <a:endParaRPr lang="en-US" sz="3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93782C-6772-6F1E-B8B1-42D81005C586}"/>
              </a:ext>
            </a:extLst>
          </p:cNvPr>
          <p:cNvSpPr txBox="1"/>
          <p:nvPr/>
        </p:nvSpPr>
        <p:spPr>
          <a:xfrm>
            <a:off x="292608" y="794263"/>
            <a:ext cx="11899392" cy="59708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Tokyo is one of Asia's most competitive short-term rental markets. As Airbnb's Data Analyst, we analyzed </a:t>
            </a:r>
            <a:r>
              <a:rPr lang="en-US" sz="1400">
                <a:solidFill>
                  <a:srgbClr val="1A1A2E"/>
                </a:solidFill>
              </a:rPr>
              <a:t>27,945</a:t>
            </a:r>
            <a:r>
              <a:rPr lang="en-US" sz="1400" b="1">
                <a:solidFill>
                  <a:srgbClr val="1A1A2E"/>
                </a:solidFill>
              </a:rPr>
              <a:t> </a:t>
            </a:r>
            <a:r>
              <a:rPr lang="en-US" sz="1400"/>
              <a:t>listings to identify what truly drives revenue.</a:t>
            </a:r>
          </a:p>
          <a:p>
            <a:endParaRPr lang="en-US" sz="1400"/>
          </a:p>
          <a:p>
            <a:r>
              <a:rPr lang="en-US" sz="1400" b="1"/>
              <a:t>Core Business Question:</a:t>
            </a:r>
            <a:endParaRPr lang="en-US" sz="1400"/>
          </a:p>
          <a:p>
            <a:r>
              <a:rPr lang="en-US" sz="1400"/>
              <a:t>Which factors most significantly influence estimated annual revenue for Tokyo Airbnb listings?</a:t>
            </a:r>
          </a:p>
          <a:p>
            <a:endParaRPr lang="en-US" sz="1400"/>
          </a:p>
          <a:p>
            <a:r>
              <a:rPr lang="en-US" sz="1400" b="1"/>
              <a:t>Four Key Investigation Areas:</a:t>
            </a:r>
          </a:p>
          <a:p>
            <a:endParaRPr lang="en-US" sz="1400" b="1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r>
              <a:rPr lang="en-US" sz="1400" b="1"/>
              <a:t>Business Goal:</a:t>
            </a:r>
            <a:endParaRPr lang="en-US" sz="1400"/>
          </a:p>
          <a:p>
            <a:r>
              <a:rPr lang="en-US" sz="1400"/>
              <a:t>Identify the key revenue levers that enable Airbnb to strategically plan short term actions (immediate host and listing improvements) and long-term platform investments (sustainable revenue growth across Tokyo)</a:t>
            </a:r>
            <a:endParaRPr lang="en-US" sz="1400">
              <a:ea typeface="Calibri"/>
              <a:cs typeface="Calibri"/>
            </a:endParaRPr>
          </a:p>
          <a:p>
            <a:endParaRPr lang="en-US" sz="1400" b="1"/>
          </a:p>
          <a:p>
            <a:r>
              <a:rPr lang="en-US" sz="1400" b="1"/>
              <a:t>Hypothesis:</a:t>
            </a:r>
            <a:endParaRPr lang="en-US" sz="1400"/>
          </a:p>
          <a:p>
            <a:r>
              <a:rPr lang="en-US" sz="1400" b="1"/>
              <a:t>H₀:</a:t>
            </a:r>
            <a:r>
              <a:rPr lang="en-US" sz="1400"/>
              <a:t> Listing attributes, host characteristics, neighborhood and review signals have no significant impact on estimated annual revenue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b="1"/>
              <a:t>H₁:</a:t>
            </a:r>
            <a:r>
              <a:rPr lang="en-US" sz="1400"/>
              <a:t> At least one factor significantly influences estimated annual revenue</a:t>
            </a:r>
          </a:p>
          <a:p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833706F-CD03-3697-40E4-6FB641CD5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671955"/>
              </p:ext>
            </p:extLst>
          </p:nvPr>
        </p:nvGraphicFramePr>
        <p:xfrm>
          <a:off x="423672" y="2277229"/>
          <a:ext cx="6914292" cy="2187717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21128">
                  <a:extLst>
                    <a:ext uri="{9D8B030D-6E8A-4147-A177-3AD203B41FA5}">
                      <a16:colId xmlns:a16="http://schemas.microsoft.com/office/drawing/2014/main" val="308713884"/>
                    </a:ext>
                  </a:extLst>
                </a:gridCol>
                <a:gridCol w="4493164">
                  <a:extLst>
                    <a:ext uri="{9D8B030D-6E8A-4147-A177-3AD203B41FA5}">
                      <a16:colId xmlns:a16="http://schemas.microsoft.com/office/drawing/2014/main" val="1779632808"/>
                    </a:ext>
                  </a:extLst>
                </a:gridCol>
              </a:tblGrid>
              <a:tr h="358917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Areas</a:t>
                      </a:r>
                    </a:p>
                  </a:txBody>
                  <a:tcPr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Questions</a:t>
                      </a:r>
                    </a:p>
                  </a:txBody>
                  <a:tcPr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285887"/>
                  </a:ext>
                </a:extLst>
              </a:tr>
              <a:tr h="433346">
                <a:tc>
                  <a:txBody>
                    <a:bodyPr/>
                    <a:lstStyle/>
                    <a:p>
                      <a:r>
                        <a:rPr lang="en-US" sz="1200"/>
                        <a:t>🏠 Listing Attributes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Does property type, bedroom count, amenities and guest capacity drive higher revenue?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09825"/>
                  </a:ext>
                </a:extLst>
              </a:tr>
              <a:tr h="433346">
                <a:tc>
                  <a:txBody>
                    <a:bodyPr/>
                    <a:lstStyle/>
                    <a:p>
                      <a:r>
                        <a:rPr lang="en-US" sz="1200"/>
                        <a:t>👤 Host Characteristics</a:t>
                      </a:r>
                    </a:p>
                  </a:txBody>
                  <a:tcPr>
                    <a:solidFill>
                      <a:srgbClr val="FF7E79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Do super-host status, response time and host tenure impact revenue performance?</a:t>
                      </a:r>
                    </a:p>
                  </a:txBody>
                  <a:tcPr>
                    <a:solidFill>
                      <a:srgbClr val="FF7E79">
                        <a:alpha val="2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78280"/>
                  </a:ext>
                </a:extLst>
              </a:tr>
              <a:tr h="433346">
                <a:tc>
                  <a:txBody>
                    <a:bodyPr/>
                    <a:lstStyle/>
                    <a:p>
                      <a:r>
                        <a:rPr lang="en-US" sz="1200"/>
                        <a:t>📍</a:t>
                      </a:r>
                      <a:r>
                        <a:rPr lang="en-US" sz="1200" b="0"/>
                        <a:t>Neighborhood Factors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Which Tokyo neighborhoods command the strongest revenue premiums?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568870"/>
                  </a:ext>
                </a:extLst>
              </a:tr>
              <a:tr h="433346">
                <a:tc>
                  <a:txBody>
                    <a:bodyPr/>
                    <a:lstStyle/>
                    <a:p>
                      <a:r>
                        <a:rPr lang="en-US" sz="1200"/>
                        <a:t>⭐ Guest Review Signals</a:t>
                      </a:r>
                    </a:p>
                  </a:txBody>
                  <a:tcPr>
                    <a:solidFill>
                      <a:srgbClr val="FF7E79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How do review volume and review scores rating influence revenue generation?</a:t>
                      </a:r>
                    </a:p>
                  </a:txBody>
                  <a:tcPr>
                    <a:solidFill>
                      <a:srgbClr val="FF7E79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243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870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878" y="76744"/>
            <a:ext cx="6583083" cy="74646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900" b="1"/>
              <a:t> Data Preprocessing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6930214" y="315992"/>
            <a:ext cx="4267200" cy="48768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6969394" y="315884"/>
            <a:ext cx="4267200" cy="487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b="1">
              <a:solidFill>
                <a:srgbClr val="1A1A2E"/>
              </a:solidFill>
            </a:endParaRPr>
          </a:p>
          <a:p>
            <a:pPr algn="ctr"/>
            <a:r>
              <a:rPr lang="en-US" sz="1400" b="1">
                <a:solidFill>
                  <a:srgbClr val="1A1A2E"/>
                </a:solidFill>
              </a:rPr>
              <a:t>27,945 listings → 21,287 active listings, with 57 variables</a:t>
            </a:r>
            <a:r>
              <a:rPr lang="en-US" sz="1300" b="1">
                <a:solidFill>
                  <a:srgbClr val="1A1A2E"/>
                </a:solidFill>
              </a:rPr>
              <a:t> </a:t>
            </a:r>
            <a:r>
              <a:rPr lang="en-US" sz="1300" b="1">
                <a:solidFill>
                  <a:srgbClr val="1A1A2E"/>
                </a:solidFill>
                <a:ea typeface="+mn-lt"/>
                <a:cs typeface="+mn-lt"/>
              </a:rPr>
              <a:t>plus engineered features</a:t>
            </a:r>
            <a:endParaRPr lang="en-US" sz="1300" b="1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endParaRPr lang="en-US" sz="1300" b="1">
              <a:solidFill>
                <a:srgbClr val="1A1A2E"/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68224" y="1328928"/>
            <a:ext cx="2121408" cy="37795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9" name="Shape 7"/>
          <p:cNvSpPr/>
          <p:nvPr/>
        </p:nvSpPr>
        <p:spPr>
          <a:xfrm>
            <a:off x="219456" y="1280160"/>
            <a:ext cx="2121408" cy="3779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5A5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0" name="Shape 8"/>
          <p:cNvSpPr/>
          <p:nvPr/>
        </p:nvSpPr>
        <p:spPr>
          <a:xfrm>
            <a:off x="219456" y="1280160"/>
            <a:ext cx="2121408" cy="51206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1" name="Text 9"/>
          <p:cNvSpPr/>
          <p:nvPr/>
        </p:nvSpPr>
        <p:spPr>
          <a:xfrm>
            <a:off x="219456" y="1280160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RAW DATA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219456" y="1816608"/>
            <a:ext cx="212140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📊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316992" y="2279904"/>
            <a:ext cx="1926336" cy="2682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/>
              <a:t>27,945  listings</a:t>
            </a:r>
            <a:endParaRPr lang="en-US" sz="1300">
              <a:ea typeface="Calibri"/>
              <a:cs typeface="Calibri"/>
            </a:endParaRPr>
          </a:p>
          <a:p>
            <a:r>
              <a:rPr lang="en-US" sz="1300"/>
              <a:t>79 variables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/>
              <a:t>String types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/>
              <a:t>Missing values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/>
              <a:t>Outliers present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/>
              <a:t>Skewed revenue</a:t>
            </a:r>
            <a:endParaRPr lang="en-US" sz="1300"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65248" y="3121152"/>
            <a:ext cx="146304" cy="0"/>
          </a:xfrm>
          <a:prstGeom prst="line">
            <a:avLst/>
          </a:prstGeom>
          <a:noFill/>
          <a:ln w="31750">
            <a:solidFill>
              <a:srgbClr val="888888"/>
            </a:solidFill>
            <a:prstDash val="solid"/>
            <a:tailEnd type="triangle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5" name="Shape 13"/>
          <p:cNvSpPr/>
          <p:nvPr/>
        </p:nvSpPr>
        <p:spPr>
          <a:xfrm>
            <a:off x="2584704" y="1328928"/>
            <a:ext cx="2121408" cy="37795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6" name="Shape 14"/>
          <p:cNvSpPr/>
          <p:nvPr/>
        </p:nvSpPr>
        <p:spPr>
          <a:xfrm>
            <a:off x="2535936" y="1280160"/>
            <a:ext cx="2121408" cy="3779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4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7" name="Shape 15"/>
          <p:cNvSpPr/>
          <p:nvPr/>
        </p:nvSpPr>
        <p:spPr>
          <a:xfrm>
            <a:off x="2535936" y="1280160"/>
            <a:ext cx="2121408" cy="512064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8" name="Text 16"/>
          <p:cNvSpPr/>
          <p:nvPr/>
        </p:nvSpPr>
        <p:spPr>
          <a:xfrm>
            <a:off x="2535936" y="1280160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DATA CLEANING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2535936" y="1816608"/>
            <a:ext cx="212140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🔧</a:t>
            </a:r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2633472" y="2279904"/>
            <a:ext cx="1926336" cy="2682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/>
              <a:t>Price: string → numeric</a:t>
            </a:r>
            <a:endParaRPr lang="en-US" sz="12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/>
              <a:t>(removed $ signs)</a:t>
            </a:r>
            <a:endParaRPr lang="en-US" sz="12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/>
              <a:t>Boolean t/f → 1/0</a:t>
            </a:r>
            <a:endParaRPr lang="en-US" sz="12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/>
              <a:t>(</a:t>
            </a:r>
            <a:r>
              <a:rPr lang="en-US" sz="1200" err="1"/>
              <a:t>superhost</a:t>
            </a:r>
            <a:r>
              <a:rPr lang="en-US" sz="1200"/>
              <a:t>, bookable)</a:t>
            </a:r>
            <a:endParaRPr lang="en-US" sz="1200">
              <a:ea typeface="Calibri"/>
              <a:cs typeface="Calibri"/>
            </a:endParaRPr>
          </a:p>
          <a:p>
            <a:r>
              <a:rPr lang="en-US" sz="1200"/>
              <a:t>Amenities list →counted list item →</a:t>
            </a:r>
            <a:endParaRPr lang="en-US" sz="12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err="1"/>
              <a:t>count_amenities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81728" y="3121152"/>
            <a:ext cx="146304" cy="0"/>
          </a:xfrm>
          <a:prstGeom prst="line">
            <a:avLst/>
          </a:prstGeom>
          <a:noFill/>
          <a:ln w="31750">
            <a:solidFill>
              <a:srgbClr val="888888"/>
            </a:solidFill>
            <a:prstDash val="solid"/>
            <a:tailEnd type="triangle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2" name="Shape 20"/>
          <p:cNvSpPr/>
          <p:nvPr/>
        </p:nvSpPr>
        <p:spPr>
          <a:xfrm>
            <a:off x="4901184" y="1328928"/>
            <a:ext cx="2121408" cy="37795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3" name="Shape 21"/>
          <p:cNvSpPr/>
          <p:nvPr/>
        </p:nvSpPr>
        <p:spPr>
          <a:xfrm>
            <a:off x="4852416" y="1280160"/>
            <a:ext cx="2121408" cy="3779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B7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4" name="Shape 22"/>
          <p:cNvSpPr/>
          <p:nvPr/>
        </p:nvSpPr>
        <p:spPr>
          <a:xfrm>
            <a:off x="4852416" y="1280160"/>
            <a:ext cx="2121408" cy="512064"/>
          </a:xfrm>
          <a:prstGeom prst="rect">
            <a:avLst/>
          </a:prstGeom>
          <a:solidFill>
            <a:srgbClr val="007B7B"/>
          </a:solidFill>
          <a:ln w="12700">
            <a:solidFill>
              <a:srgbClr val="007B7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5" name="Text 23"/>
          <p:cNvSpPr/>
          <p:nvPr/>
        </p:nvSpPr>
        <p:spPr>
          <a:xfrm>
            <a:off x="4852416" y="1280160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MISSING VALUES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4852416" y="1816608"/>
            <a:ext cx="212140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🔍</a:t>
            </a:r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4949952" y="2279904"/>
            <a:ext cx="1926336" cy="2682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/>
              <a:t>Price  → dropped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 err="1"/>
              <a:t>Superhost</a:t>
            </a:r>
            <a:r>
              <a:rPr lang="en-US" sz="1300"/>
              <a:t> → filled 0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/>
              <a:t>Response time → mode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/>
              <a:t>Rates → median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/>
              <a:t>Bedrooms/beds →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/>
              <a:t>KNN Imputer (k=5)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/>
              <a:t>8 ghost rows dropped</a:t>
            </a:r>
            <a:endParaRPr lang="en-US" sz="1300"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998208" y="3121152"/>
            <a:ext cx="146304" cy="0"/>
          </a:xfrm>
          <a:prstGeom prst="line">
            <a:avLst/>
          </a:prstGeom>
          <a:noFill/>
          <a:ln w="31750">
            <a:solidFill>
              <a:srgbClr val="888888"/>
            </a:solidFill>
            <a:prstDash val="solid"/>
            <a:tailEnd type="triangle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9" name="Shape 27"/>
          <p:cNvSpPr/>
          <p:nvPr/>
        </p:nvSpPr>
        <p:spPr>
          <a:xfrm>
            <a:off x="7217664" y="1328928"/>
            <a:ext cx="2121408" cy="37795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0" name="Shape 28"/>
          <p:cNvSpPr/>
          <p:nvPr/>
        </p:nvSpPr>
        <p:spPr>
          <a:xfrm>
            <a:off x="7168896" y="1280160"/>
            <a:ext cx="2121408" cy="3779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5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1" name="Shape 29"/>
          <p:cNvSpPr/>
          <p:nvPr/>
        </p:nvSpPr>
        <p:spPr>
          <a:xfrm>
            <a:off x="7168896" y="1280160"/>
            <a:ext cx="2121408" cy="5120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2" name="Text 30"/>
          <p:cNvSpPr/>
          <p:nvPr/>
        </p:nvSpPr>
        <p:spPr>
          <a:xfrm>
            <a:off x="7168896" y="1280160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OUTLIER TREATMENT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7168896" y="1816608"/>
            <a:ext cx="212140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✂️</a:t>
            </a:r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7266432" y="2279904"/>
            <a:ext cx="1926336" cy="2682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</a:rPr>
              <a:t>Capped at 99th %</a:t>
            </a:r>
            <a:r>
              <a:rPr lang="en-US" sz="1300" err="1">
                <a:solidFill>
                  <a:srgbClr val="333333"/>
                </a:solidFill>
              </a:rPr>
              <a:t>ile</a:t>
            </a:r>
            <a:r>
              <a:rPr lang="en-US" sz="1300">
                <a:solidFill>
                  <a:srgbClr val="333333"/>
                </a:solidFill>
              </a:rPr>
              <a:t>: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</a:rPr>
              <a:t>Accommodates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</a:rPr>
              <a:t>Bedrooms | Beds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</a:rPr>
              <a:t>Bathrooms | Price</a:t>
            </a:r>
            <a:endParaRPr lang="en-US" sz="1300">
              <a:ea typeface="Calibri"/>
              <a:cs typeface="Calibri"/>
            </a:endParaRPr>
          </a:p>
          <a:p>
            <a:r>
              <a:rPr lang="en-US" sz="1300">
                <a:solidFill>
                  <a:srgbClr val="333333"/>
                </a:solidFill>
              </a:rPr>
              <a:t>Removes extremes </a:t>
            </a:r>
            <a:r>
              <a:rPr lang="en-US" sz="1300">
                <a:solidFill>
                  <a:srgbClr val="000000"/>
                </a:solidFill>
              </a:rPr>
              <a:t>erroneous values</a:t>
            </a:r>
            <a:r>
              <a:rPr lang="en-US" sz="1300">
                <a:solidFill>
                  <a:srgbClr val="333333"/>
                </a:solidFill>
              </a:rPr>
              <a:t> e.g.</a:t>
            </a:r>
            <a:endParaRPr lang="en-US" sz="130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</a:rPr>
              <a:t>price = ¥9,999,998</a:t>
            </a:r>
            <a:endParaRPr lang="en-US" sz="1300"/>
          </a:p>
        </p:txBody>
      </p:sp>
      <p:sp>
        <p:nvSpPr>
          <p:cNvPr id="35" name="Shape 33"/>
          <p:cNvSpPr/>
          <p:nvPr/>
        </p:nvSpPr>
        <p:spPr>
          <a:xfrm>
            <a:off x="9314688" y="3121152"/>
            <a:ext cx="146304" cy="0"/>
          </a:xfrm>
          <a:prstGeom prst="line">
            <a:avLst/>
          </a:prstGeom>
          <a:noFill/>
          <a:ln w="31750">
            <a:solidFill>
              <a:srgbClr val="888888"/>
            </a:solidFill>
            <a:prstDash val="solid"/>
            <a:tailEnd type="triangle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6" name="Shape 34"/>
          <p:cNvSpPr/>
          <p:nvPr/>
        </p:nvSpPr>
        <p:spPr>
          <a:xfrm>
            <a:off x="9534144" y="1328928"/>
            <a:ext cx="2121408" cy="37795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7" name="Shape 35"/>
          <p:cNvSpPr/>
          <p:nvPr/>
        </p:nvSpPr>
        <p:spPr>
          <a:xfrm>
            <a:off x="9485376" y="1280160"/>
            <a:ext cx="2121408" cy="3779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8" name="Shape 36"/>
          <p:cNvSpPr/>
          <p:nvPr/>
        </p:nvSpPr>
        <p:spPr>
          <a:xfrm>
            <a:off x="9485376" y="1280160"/>
            <a:ext cx="2121408" cy="5120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9" name="Text 37"/>
          <p:cNvSpPr/>
          <p:nvPr/>
        </p:nvSpPr>
        <p:spPr>
          <a:xfrm>
            <a:off x="9485376" y="1280160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FEATURE ENGINEERING</a:t>
            </a:r>
            <a:endParaRPr lang="en-US" sz="1400"/>
          </a:p>
        </p:txBody>
      </p:sp>
      <p:sp>
        <p:nvSpPr>
          <p:cNvPr id="40" name="Text 38"/>
          <p:cNvSpPr/>
          <p:nvPr/>
        </p:nvSpPr>
        <p:spPr>
          <a:xfrm>
            <a:off x="9485376" y="1816608"/>
            <a:ext cx="212140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⚙️</a:t>
            </a:r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9536118" y="2250023"/>
            <a:ext cx="2322007" cy="278682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err="1"/>
              <a:t>host_tenure_days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 err="1"/>
              <a:t>days_since_last_review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 err="1"/>
              <a:t>property_bucket</a:t>
            </a:r>
            <a:r>
              <a:rPr lang="en-US" sz="1300"/>
              <a:t> (5 grp)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 err="1"/>
              <a:t>neighbourhood_bucket</a:t>
            </a:r>
            <a:endParaRPr lang="en-US" sz="13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/>
              <a:t>(5 Tokyo regions)</a:t>
            </a:r>
            <a:endParaRPr lang="en-US" sz="1300">
              <a:ea typeface="Calibri"/>
              <a:cs typeface="Calibri"/>
            </a:endParaRPr>
          </a:p>
          <a:p>
            <a:r>
              <a:rPr lang="en-US" sz="1300" err="1">
                <a:ea typeface="Calibri"/>
                <a:cs typeface="Calibri"/>
              </a:rPr>
              <a:t>estimated_annual_revenue</a:t>
            </a:r>
            <a:r>
              <a:rPr lang="en-US" sz="1300">
                <a:ea typeface="Calibri"/>
                <a:cs typeface="Calibri"/>
              </a:rPr>
              <a:t>: price * estimated_occupany_365d, </a:t>
            </a:r>
            <a:r>
              <a:rPr lang="en-US" sz="1300" err="1">
                <a:ea typeface="Calibri"/>
                <a:cs typeface="Calibri"/>
              </a:rPr>
              <a:t>primarydependent</a:t>
            </a:r>
            <a:r>
              <a:rPr lang="en-US" sz="1300">
                <a:ea typeface="Calibri"/>
                <a:cs typeface="Calibri"/>
              </a:rPr>
              <a:t> variable </a:t>
            </a:r>
          </a:p>
          <a:p>
            <a:r>
              <a:rPr lang="en-US" sz="1300"/>
              <a:t>log → estimated annual revenue </a:t>
            </a:r>
          </a:p>
        </p:txBody>
      </p:sp>
      <p:sp>
        <p:nvSpPr>
          <p:cNvPr id="42" name="Shape 40"/>
          <p:cNvSpPr/>
          <p:nvPr/>
        </p:nvSpPr>
        <p:spPr>
          <a:xfrm>
            <a:off x="307360" y="5263614"/>
            <a:ext cx="11506842" cy="1015266"/>
          </a:xfrm>
          <a:prstGeom prst="rect">
            <a:avLst/>
          </a:prstGeom>
          <a:solidFill>
            <a:schemeClr val="bg1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3" name="Text 41"/>
          <p:cNvSpPr/>
          <p:nvPr/>
        </p:nvSpPr>
        <p:spPr>
          <a:xfrm>
            <a:off x="365760" y="5279136"/>
            <a:ext cx="2194560" cy="4632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50" b="1"/>
              <a:t>27,945 → 21,287</a:t>
            </a:r>
            <a:endParaRPr lang="en-US" sz="1450" b="1">
              <a:ea typeface="Calibri"/>
              <a:cs typeface="Calibri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65760" y="5742432"/>
            <a:ext cx="21945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/>
              <a:t>Final Listings Dataset </a:t>
            </a:r>
            <a:endParaRPr lang="en-US" sz="1133" b="1"/>
          </a:p>
        </p:txBody>
      </p:sp>
      <p:sp>
        <p:nvSpPr>
          <p:cNvPr id="45" name="Shape 43"/>
          <p:cNvSpPr/>
          <p:nvPr/>
        </p:nvSpPr>
        <p:spPr>
          <a:xfrm>
            <a:off x="2609088" y="5327904"/>
            <a:ext cx="0" cy="82905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6" name="Text 44"/>
          <p:cNvSpPr/>
          <p:nvPr/>
        </p:nvSpPr>
        <p:spPr>
          <a:xfrm>
            <a:off x="2731008" y="5279136"/>
            <a:ext cx="21945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/>
              <a:t>3,930 listings</a:t>
            </a:r>
            <a:endParaRPr lang="en-US" sz="1467"/>
          </a:p>
        </p:txBody>
      </p:sp>
      <p:sp>
        <p:nvSpPr>
          <p:cNvPr id="47" name="Text 45"/>
          <p:cNvSpPr/>
          <p:nvPr/>
        </p:nvSpPr>
        <p:spPr>
          <a:xfrm>
            <a:off x="2731008" y="57424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b="1"/>
              <a:t>Zero Revenue Excluded</a:t>
            </a:r>
          </a:p>
        </p:txBody>
      </p:sp>
      <p:sp>
        <p:nvSpPr>
          <p:cNvPr id="48" name="Shape 46"/>
          <p:cNvSpPr/>
          <p:nvPr/>
        </p:nvSpPr>
        <p:spPr>
          <a:xfrm>
            <a:off x="4974336" y="5327904"/>
            <a:ext cx="0" cy="82905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9" name="Text 47"/>
          <p:cNvSpPr/>
          <p:nvPr/>
        </p:nvSpPr>
        <p:spPr>
          <a:xfrm>
            <a:off x="5096256" y="5279136"/>
            <a:ext cx="21945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/>
              <a:t>Resolved</a:t>
            </a:r>
          </a:p>
        </p:txBody>
      </p:sp>
      <p:sp>
        <p:nvSpPr>
          <p:cNvPr id="50" name="Text 48"/>
          <p:cNvSpPr/>
          <p:nvPr/>
        </p:nvSpPr>
        <p:spPr>
          <a:xfrm>
            <a:off x="5096256" y="57424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b="1"/>
              <a:t>Missing Values</a:t>
            </a:r>
          </a:p>
        </p:txBody>
      </p:sp>
      <p:sp>
        <p:nvSpPr>
          <p:cNvPr id="51" name="Shape 49"/>
          <p:cNvSpPr/>
          <p:nvPr/>
        </p:nvSpPr>
        <p:spPr>
          <a:xfrm>
            <a:off x="7339584" y="5327904"/>
            <a:ext cx="0" cy="82905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2" name="Text 50"/>
          <p:cNvSpPr/>
          <p:nvPr/>
        </p:nvSpPr>
        <p:spPr>
          <a:xfrm>
            <a:off x="7461504" y="5279136"/>
            <a:ext cx="2194560" cy="4632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/>
              <a:t>Capped 99th percentile</a:t>
            </a:r>
          </a:p>
        </p:txBody>
      </p:sp>
      <p:sp>
        <p:nvSpPr>
          <p:cNvPr id="53" name="Text 51"/>
          <p:cNvSpPr/>
          <p:nvPr/>
        </p:nvSpPr>
        <p:spPr>
          <a:xfrm>
            <a:off x="7461504" y="57424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b="1"/>
              <a:t>Outliers</a:t>
            </a:r>
          </a:p>
        </p:txBody>
      </p:sp>
      <p:sp>
        <p:nvSpPr>
          <p:cNvPr id="54" name="Shape 52"/>
          <p:cNvSpPr/>
          <p:nvPr/>
        </p:nvSpPr>
        <p:spPr>
          <a:xfrm>
            <a:off x="9704832" y="5327904"/>
            <a:ext cx="0" cy="82905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5" name="Text 53"/>
          <p:cNvSpPr/>
          <p:nvPr/>
        </p:nvSpPr>
        <p:spPr>
          <a:xfrm>
            <a:off x="9826752" y="5279136"/>
            <a:ext cx="21945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/>
              <a:t>Log Transformed</a:t>
            </a:r>
          </a:p>
        </p:txBody>
      </p:sp>
      <p:sp>
        <p:nvSpPr>
          <p:cNvPr id="56" name="Text 54"/>
          <p:cNvSpPr/>
          <p:nvPr/>
        </p:nvSpPr>
        <p:spPr>
          <a:xfrm>
            <a:off x="9826752" y="57424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b="1"/>
              <a:t>Distributions</a:t>
            </a: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333032DF-B283-526E-2FEC-EC48AF7CF535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7" name="Shape 1">
            <a:extLst>
              <a:ext uri="{FF2B5EF4-FFF2-40B4-BE49-F238E27FC236}">
                <a16:creationId xmlns:a16="http://schemas.microsoft.com/office/drawing/2014/main" id="{B13F5CD6-41C9-EAF7-AF95-4CCCBB22EAE4}"/>
              </a:ext>
            </a:extLst>
          </p:cNvPr>
          <p:cNvSpPr/>
          <p:nvPr/>
        </p:nvSpPr>
        <p:spPr>
          <a:xfrm>
            <a:off x="0" y="97536"/>
            <a:ext cx="73152" cy="676046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9" name="Shape 2">
            <a:extLst>
              <a:ext uri="{FF2B5EF4-FFF2-40B4-BE49-F238E27FC236}">
                <a16:creationId xmlns:a16="http://schemas.microsoft.com/office/drawing/2014/main" id="{E4E57DC6-EA73-0105-1210-E309E761D334}"/>
              </a:ext>
            </a:extLst>
          </p:cNvPr>
          <p:cNvSpPr/>
          <p:nvPr/>
        </p:nvSpPr>
        <p:spPr>
          <a:xfrm>
            <a:off x="35114" y="6590450"/>
            <a:ext cx="12118848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76589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E101B-C7DD-1B97-FD41-5A3F20116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66F8CD-C2E0-45AE-4115-7A8273376C86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D67D27-19BE-096E-AA23-8BA0CE7D9230}"/>
              </a:ext>
            </a:extLst>
          </p:cNvPr>
          <p:cNvSpPr/>
          <p:nvPr/>
        </p:nvSpPr>
        <p:spPr>
          <a:xfrm>
            <a:off x="73152" y="6644640"/>
            <a:ext cx="12118848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765682B-CFC7-EC36-835F-8D0E3C0A0D53}"/>
              </a:ext>
            </a:extLst>
          </p:cNvPr>
          <p:cNvSpPr/>
          <p:nvPr/>
        </p:nvSpPr>
        <p:spPr>
          <a:xfrm>
            <a:off x="60540" y="109977"/>
            <a:ext cx="10701529" cy="670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600" b="1">
                <a:ea typeface="Arial Black" pitchFamily="34" charset="-122"/>
                <a:cs typeface="Arial Black" pitchFamily="34" charset="-120"/>
              </a:rPr>
              <a:t> Univariate Analysis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8C5342-224B-A796-A5D2-BD391A214530}"/>
              </a:ext>
            </a:extLst>
          </p:cNvPr>
          <p:cNvSpPr/>
          <p:nvPr/>
        </p:nvSpPr>
        <p:spPr>
          <a:xfrm>
            <a:off x="136605" y="791021"/>
            <a:ext cx="4256026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ea typeface="Arial" pitchFamily="34" charset="-122"/>
                <a:cs typeface="Arial" pitchFamily="34" charset="-120"/>
              </a:rPr>
              <a:t>Y-Variable: Estimated Annual Revenue (log) 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4E4C69-C926-F5D0-5349-AAA4C0C2D212}"/>
              </a:ext>
            </a:extLst>
          </p:cNvPr>
          <p:cNvSpPr txBox="1"/>
          <p:nvPr/>
        </p:nvSpPr>
        <p:spPr>
          <a:xfrm>
            <a:off x="129917" y="1439414"/>
            <a:ext cx="5599176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Log transformation distribution is approximately normal confirming transformation was effective.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/>
              <a:t>Mild left skew: mean (¥1.18M) slightly below median (¥1.23M)</a:t>
            </a:r>
            <a:endParaRPr lang="en-US" sz="1400">
              <a:ea typeface="Calibri"/>
              <a:cs typeface="Calibri"/>
            </a:endParaRPr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5ED170-D23A-E728-34EF-3C0A3447A6FB}"/>
              </a:ext>
            </a:extLst>
          </p:cNvPr>
          <p:cNvSpPr txBox="1"/>
          <p:nvPr/>
        </p:nvSpPr>
        <p:spPr>
          <a:xfrm>
            <a:off x="127749" y="2406586"/>
            <a:ext cx="5566324" cy="29546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/>
              <a:t>Key Statistics</a:t>
            </a:r>
          </a:p>
          <a:p>
            <a:endParaRPr lang="en-US" sz="1400" b="1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Median annual revenue = ¥1,234,370 (~¥1.23M per year)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Mean slightly lower at ¥1,118,237 due to mild left skew from lower revenue listings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IQR spans ¥537,208 to ¥2,604,449 </a:t>
            </a:r>
            <a:r>
              <a:rPr lang="en-US" sz="1400" b="1"/>
              <a:t>(</a:t>
            </a:r>
            <a:r>
              <a:rPr lang="en-US" sz="1400"/>
              <a:t>~¥537K - ~¥2.6M per year)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Right tail extends to ¥34.8M  premium luxury listings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Left tail minimum ¥17,628  very low activity listings</a:t>
            </a:r>
            <a:endParaRPr lang="en-US" sz="1400">
              <a:ea typeface="Calibri"/>
              <a:cs typeface="Calibri"/>
            </a:endParaRPr>
          </a:p>
          <a:p>
            <a:endParaRPr lang="en-US"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3CFFA8-991C-0085-1A17-4CD4AFE61944}"/>
              </a:ext>
            </a:extLst>
          </p:cNvPr>
          <p:cNvSpPr txBox="1"/>
          <p:nvPr/>
        </p:nvSpPr>
        <p:spPr>
          <a:xfrm>
            <a:off x="78365" y="6344462"/>
            <a:ext cx="719124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/>
              <a:t>Note: </a:t>
            </a:r>
            <a:r>
              <a:rPr lang="en-US" sz="1300"/>
              <a:t>Raw revenue was right skewed → log transformation applied </a:t>
            </a: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A2E690C9-EEEE-A36B-BF61-B4C3B5D99028}"/>
              </a:ext>
            </a:extLst>
          </p:cNvPr>
          <p:cNvSpPr/>
          <p:nvPr/>
        </p:nvSpPr>
        <p:spPr>
          <a:xfrm>
            <a:off x="5542305" y="567916"/>
            <a:ext cx="45719" cy="5722167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134202B1-4BA3-A777-C4EC-A4D11E20F5A8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B53C9D-4334-255E-610D-A3BBD33C2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206" y="263044"/>
            <a:ext cx="2080954" cy="6195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8699E3-808C-F251-578D-9E7541A7F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168" y="276898"/>
            <a:ext cx="2394978" cy="61812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4285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64303-D443-2E10-1F05-C2834DC7D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853A6D-1B4D-D1CC-5CE7-B7FB7E64CDC1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55A3BFE-0FD7-3FE9-09A6-7FD69C4FC8E6}"/>
              </a:ext>
            </a:extLst>
          </p:cNvPr>
          <p:cNvSpPr/>
          <p:nvPr/>
        </p:nvSpPr>
        <p:spPr>
          <a:xfrm>
            <a:off x="0" y="97536"/>
            <a:ext cx="73152" cy="676046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478B1B7-ADE9-456E-1665-2275B1535851}"/>
              </a:ext>
            </a:extLst>
          </p:cNvPr>
          <p:cNvSpPr/>
          <p:nvPr/>
        </p:nvSpPr>
        <p:spPr>
          <a:xfrm>
            <a:off x="4136944" y="5162403"/>
            <a:ext cx="3868195" cy="23073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 algn="just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With F-1453.04,p&lt;.0001 </a:t>
            </a:r>
            <a:r>
              <a:rPr lang="en-US" sz="1400" err="1">
                <a:ea typeface="+mn-lt"/>
                <a:cs typeface="+mn-lt"/>
              </a:rPr>
              <a:t>hosts_is</a:t>
            </a:r>
            <a:r>
              <a:rPr lang="en-US" sz="1400">
                <a:ea typeface="+mn-lt"/>
                <a:cs typeface="+mn-lt"/>
              </a:rPr>
              <a:t>_ </a:t>
            </a:r>
            <a:r>
              <a:rPr lang="en-US" sz="1400" err="1">
                <a:ea typeface="+mn-lt"/>
                <a:cs typeface="+mn-lt"/>
              </a:rPr>
              <a:t>superhos</a:t>
            </a:r>
            <a:r>
              <a:rPr lang="en-US" sz="1400" b="1" err="1">
                <a:ea typeface="+mn-lt"/>
                <a:cs typeface="+mn-lt"/>
              </a:rPr>
              <a:t>t</a:t>
            </a:r>
            <a:r>
              <a:rPr lang="en-US" sz="1400">
                <a:ea typeface="+mn-lt"/>
                <a:cs typeface="+mn-lt"/>
              </a:rPr>
              <a:t> is statistically significant and explain about 6.39% variation in the revenue.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 err="1">
                <a:ea typeface="Calibri"/>
                <a:cs typeface="Calibri"/>
              </a:rPr>
              <a:t>Superhots</a:t>
            </a:r>
            <a:r>
              <a:rPr lang="en-US" sz="1400">
                <a:ea typeface="Calibri"/>
                <a:cs typeface="Calibri"/>
              </a:rPr>
              <a:t> generate about ¥702,873 more per year nearly 1.82 x more revenue than non-</a:t>
            </a:r>
            <a:r>
              <a:rPr lang="en-US" sz="1400" err="1">
                <a:ea typeface="Calibri"/>
                <a:cs typeface="Calibri"/>
              </a:rPr>
              <a:t>superhost</a:t>
            </a:r>
            <a:r>
              <a:rPr lang="en-US" sz="1400">
                <a:ea typeface="Calibri"/>
                <a:cs typeface="Calibri"/>
              </a:rPr>
              <a:t>.</a:t>
            </a:r>
          </a:p>
          <a:p>
            <a:pPr lvl="0" algn="l"/>
            <a:endParaRPr lang="en-US">
              <a:ea typeface="Calibri"/>
              <a:cs typeface="Calibri"/>
            </a:endParaRPr>
          </a:p>
          <a:p>
            <a:endParaRPr lang="en-US" sz="1300">
              <a:ea typeface="Calibri"/>
              <a:cs typeface="Calibri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8ED04A0-C75E-9CCD-37B6-31BD8DF14231}"/>
              </a:ext>
            </a:extLst>
          </p:cNvPr>
          <p:cNvSpPr/>
          <p:nvPr/>
        </p:nvSpPr>
        <p:spPr>
          <a:xfrm>
            <a:off x="76539" y="-74735"/>
            <a:ext cx="8165418" cy="76122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900" b="1">
                <a:ea typeface="Arial Black" pitchFamily="34" charset="-122"/>
                <a:cs typeface="Arial Black" pitchFamily="34" charset="-120"/>
              </a:rPr>
              <a:t> Bivariate Analysis- </a:t>
            </a:r>
            <a:r>
              <a:rPr lang="en-US" sz="2900" b="1"/>
              <a:t>Categorical Variables</a:t>
            </a:r>
            <a:r>
              <a:rPr lang="en-US" sz="290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19C749-F5C8-F6D9-0E95-DE7D9844BC14}"/>
              </a:ext>
            </a:extLst>
          </p:cNvPr>
          <p:cNvSpPr txBox="1"/>
          <p:nvPr/>
        </p:nvSpPr>
        <p:spPr>
          <a:xfrm>
            <a:off x="8122379" y="5342272"/>
            <a:ext cx="3856725" cy="15850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With F-147.73, p &lt;.0001 neighborhood bucket is statistically significant and explains about 2.7% variation in estimated annual revenue by neighborhood bucket.</a:t>
            </a:r>
            <a:endParaRPr lang="en-US" sz="140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ea typeface="Calibri"/>
                <a:cs typeface="Calibri"/>
              </a:rPr>
              <a:t>Central Tokyo generates the highest average revenue (¥1.45M)</a:t>
            </a:r>
          </a:p>
          <a:p>
            <a:endParaRPr lang="en-US" sz="1300">
              <a:ea typeface="Calibri" panose="020F0502020204030204"/>
              <a:cs typeface="Segoe UI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58826C13-E8EC-3F02-FBC6-EE7F943FA190}"/>
              </a:ext>
            </a:extLst>
          </p:cNvPr>
          <p:cNvSpPr txBox="1"/>
          <p:nvPr/>
        </p:nvSpPr>
        <p:spPr>
          <a:xfrm>
            <a:off x="216147" y="5162857"/>
            <a:ext cx="3613243" cy="18466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00" b="1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With  F = 307.84, p &lt; .0001 property bucket is statistically significant and explains about 5.45% of the variation in revenue.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>
                <a:ea typeface="+mn-lt"/>
                <a:cs typeface="+mn-lt"/>
              </a:rPr>
              <a:t>Entire place dominates in volume with strong revenue of ¥1.22M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7CF91D97-089F-E93A-FFBC-55F438F7C3E0}"/>
              </a:ext>
            </a:extLst>
          </p:cNvPr>
          <p:cNvSpPr/>
          <p:nvPr/>
        </p:nvSpPr>
        <p:spPr>
          <a:xfrm>
            <a:off x="4129988" y="610341"/>
            <a:ext cx="46799" cy="5893994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ysDot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353A2894-5985-8C0D-016C-8AC52BD50519}"/>
              </a:ext>
            </a:extLst>
          </p:cNvPr>
          <p:cNvSpPr/>
          <p:nvPr/>
        </p:nvSpPr>
        <p:spPr>
          <a:xfrm flipH="1">
            <a:off x="7974109" y="528240"/>
            <a:ext cx="36993" cy="5980605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20" name="Picture 19" descr="A graph of blue bars&#10;&#10;AI-generated content may be incorrect.">
            <a:extLst>
              <a:ext uri="{FF2B5EF4-FFF2-40B4-BE49-F238E27FC236}">
                <a16:creationId xmlns:a16="http://schemas.microsoft.com/office/drawing/2014/main" id="{2CD18C99-B6BF-28BC-F30B-1DC93C8BC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93" y="536478"/>
            <a:ext cx="3880053" cy="4773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8FD5BF-2302-9A95-F6AD-86519636C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0181" y="845079"/>
            <a:ext cx="804161" cy="8710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FEA38EE-59BE-2F33-0DC6-2DD4067D9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8093" y="536478"/>
            <a:ext cx="3616750" cy="47524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B6F4A8-0201-A761-A269-FC8031E9CE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3874" y="847197"/>
            <a:ext cx="773323" cy="53869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E6E9B83-A1B6-9490-A63F-47AC6C577B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0355" y="550333"/>
            <a:ext cx="3832791" cy="4737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 descr="A screenshot of a bucket list&#10;&#10;AI-generated content may be incorrect.">
            <a:extLst>
              <a:ext uri="{FF2B5EF4-FFF2-40B4-BE49-F238E27FC236}">
                <a16:creationId xmlns:a16="http://schemas.microsoft.com/office/drawing/2014/main" id="{A5EFA971-6B95-5185-EE26-68E54D1FC9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91999" y="845080"/>
            <a:ext cx="966259" cy="828675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83E9B978-12BC-C863-1709-7C6881885887}"/>
              </a:ext>
            </a:extLst>
          </p:cNvPr>
          <p:cNvSpPr/>
          <p:nvPr/>
        </p:nvSpPr>
        <p:spPr>
          <a:xfrm>
            <a:off x="74563" y="6781518"/>
            <a:ext cx="12118848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7384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E08A3-4E41-0054-77C8-14F1574EE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17CA61-541B-FF7D-5DFF-D02004F615BB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B6F3F5-DBCB-4D51-0227-EA5BE3C1DE6C}"/>
              </a:ext>
            </a:extLst>
          </p:cNvPr>
          <p:cNvSpPr/>
          <p:nvPr/>
        </p:nvSpPr>
        <p:spPr>
          <a:xfrm>
            <a:off x="0" y="97536"/>
            <a:ext cx="73152" cy="676046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1F850F1-62C1-78AB-47B9-98FA74E71629}"/>
              </a:ext>
            </a:extLst>
          </p:cNvPr>
          <p:cNvSpPr/>
          <p:nvPr/>
        </p:nvSpPr>
        <p:spPr>
          <a:xfrm>
            <a:off x="73152" y="6644640"/>
            <a:ext cx="12118848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9D7673A-FB23-22FA-8FF5-1BE571E5BA78}"/>
              </a:ext>
            </a:extLst>
          </p:cNvPr>
          <p:cNvSpPr/>
          <p:nvPr/>
        </p:nvSpPr>
        <p:spPr>
          <a:xfrm>
            <a:off x="118872" y="1187933"/>
            <a:ext cx="5902406" cy="2381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/>
          </a:p>
          <a:p>
            <a:endParaRPr lang="en-US" sz="2400" b="1"/>
          </a:p>
          <a:p>
            <a:endParaRPr lang="en-US" sz="2400" b="1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7F105BF-FA48-696D-FB17-73BC726D4E93}"/>
              </a:ext>
            </a:extLst>
          </p:cNvPr>
          <p:cNvSpPr/>
          <p:nvPr/>
        </p:nvSpPr>
        <p:spPr>
          <a:xfrm>
            <a:off x="118872" y="107277"/>
            <a:ext cx="8123085" cy="59188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>
                <a:ea typeface="Arial Black" pitchFamily="34" charset="-122"/>
                <a:cs typeface="Arial Black" pitchFamily="34" charset="-120"/>
              </a:rPr>
              <a:t> Bivariate Analysis- Continuous </a:t>
            </a:r>
            <a:r>
              <a:rPr lang="en-US" sz="3200" b="1"/>
              <a:t>Variables</a:t>
            </a:r>
            <a:r>
              <a:rPr lang="en-US" sz="3200"/>
              <a:t> </a:t>
            </a:r>
            <a:r>
              <a:rPr lang="en-US" sz="3200" b="1">
                <a:ea typeface="Arial Black" pitchFamily="34" charset="-122"/>
                <a:cs typeface="Arial Black" pitchFamily="34" charset="-120"/>
              </a:rPr>
              <a:t> </a:t>
            </a:r>
            <a:endParaRPr lang="en-US" sz="3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930AC-05E3-FFFA-6987-6989DB8FED3D}"/>
              </a:ext>
            </a:extLst>
          </p:cNvPr>
          <p:cNvSpPr txBox="1"/>
          <p:nvPr/>
        </p:nvSpPr>
        <p:spPr>
          <a:xfrm>
            <a:off x="651066" y="4459966"/>
            <a:ext cx="4849538" cy="22313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/>
              <a:t>Number of reviews: </a:t>
            </a:r>
            <a:r>
              <a:rPr lang="en-US" sz="1400" b="1">
                <a:ea typeface="+mn-lt"/>
                <a:cs typeface="+mn-lt"/>
              </a:rPr>
              <a:t>strongest continuous predictor</a:t>
            </a:r>
            <a:endParaRPr lang="en-US" sz="1400" b="1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r = 0.33</a:t>
            </a:r>
            <a:r>
              <a:rPr lang="en-US" sz="1400">
                <a:ea typeface="+mn-lt"/>
                <a:cs typeface="+mn-lt"/>
              </a:rPr>
              <a:t> | With p &lt; .0001, r² ~ 0.1314, number of reviews is statistically significant, and explains approximately </a:t>
            </a:r>
            <a:r>
              <a:rPr lang="en-US" sz="1400" b="1">
                <a:ea typeface="+mn-lt"/>
                <a:cs typeface="+mn-lt"/>
              </a:rPr>
              <a:t>13.1% of the variation</a:t>
            </a:r>
            <a:r>
              <a:rPr lang="en-US" sz="1400">
                <a:ea typeface="+mn-lt"/>
                <a:cs typeface="+mn-lt"/>
              </a:rPr>
              <a:t> in estimated annual revenue log 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ea typeface="Calibri"/>
                <a:cs typeface="Calibri"/>
              </a:rPr>
              <a:t>New listings with fewer than 10 reviews earn approximately ¥162,754 annually while listings with 500+ reviews earn ¥8,886,110 a remarkable 54x revenue gap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Listings with 500+ reviews earn ~16x more revenue than new listings early reviews drive the steepest gain.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endParaRPr lang="en-US" sz="1300">
              <a:ea typeface="+mn-lt"/>
              <a:cs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1ABA37-6A61-7C4B-8B1E-4FE5C5EA2B85}"/>
              </a:ext>
            </a:extLst>
          </p:cNvPr>
          <p:cNvSpPr txBox="1"/>
          <p:nvPr/>
        </p:nvSpPr>
        <p:spPr>
          <a:xfrm>
            <a:off x="6657877" y="4417825"/>
            <a:ext cx="4862288" cy="27853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i="0" u="none" strike="noStrike" baseline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Accommodates: </a:t>
            </a:r>
            <a:endParaRPr lang="en-US" sz="140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 b="1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r</a:t>
            </a:r>
            <a:r>
              <a:rPr lang="en-US" sz="14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b="1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= </a:t>
            </a:r>
            <a:r>
              <a:rPr lang="en-US" sz="1400" b="1">
                <a:solidFill>
                  <a:srgbClr val="000000"/>
                </a:solidFill>
                <a:ea typeface="+mn-lt"/>
                <a:cs typeface="+mn-lt"/>
              </a:rPr>
              <a:t>0.36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| </a:t>
            </a:r>
            <a:r>
              <a:rPr lang="en-US" sz="14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With p &lt; .0001, r² 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~ 0.1299</a:t>
            </a:r>
            <a:r>
              <a:rPr lang="en-US" sz="14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, accommodates is statistically significant, 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and explains</a:t>
            </a:r>
            <a:r>
              <a:rPr lang="en-US" sz="14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 approximately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13.% </a:t>
            </a:r>
            <a:r>
              <a:rPr lang="en-US" sz="140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of the variation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4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in estimated annual revenue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log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Revenue rises from ¥64,706 (1 guest capacity) to ¥924,132 (15 guest capacity) a 14x revenue difference between the smallest and largest capacity listings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Listings accommodating more guests earn higher revenue , each additional guest adds +0.40%, with sharpest gains in the 1–7 guest range.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>
              <a:latin typeface="Arial"/>
              <a:ea typeface="Calibri"/>
              <a:cs typeface="Arial"/>
            </a:endParaRPr>
          </a:p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6E628794-B0B9-105C-DD8B-13AED23AC2E8}"/>
              </a:ext>
            </a:extLst>
          </p:cNvPr>
          <p:cNvSpPr/>
          <p:nvPr/>
        </p:nvSpPr>
        <p:spPr>
          <a:xfrm>
            <a:off x="5978627" y="852281"/>
            <a:ext cx="44582" cy="5754194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7" name="Picture 6" descr="A graph showing the growth of a company&#10;&#10;AI-generated content may be incorrect.">
            <a:extLst>
              <a:ext uri="{FF2B5EF4-FFF2-40B4-BE49-F238E27FC236}">
                <a16:creationId xmlns:a16="http://schemas.microsoft.com/office/drawing/2014/main" id="{8F71CB07-FAA5-E370-FBFD-558280144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854" y="854864"/>
            <a:ext cx="5874330" cy="34164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graph with blue dots&#10;&#10;AI-generated content may be incorrect.">
            <a:extLst>
              <a:ext uri="{FF2B5EF4-FFF2-40B4-BE49-F238E27FC236}">
                <a16:creationId xmlns:a16="http://schemas.microsoft.com/office/drawing/2014/main" id="{674DA4E2-7F14-4F37-2006-1294B50ED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09" y="851400"/>
            <a:ext cx="5666511" cy="34068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67940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46F3-C0BA-140D-F2D3-DA78DD158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C2FC41-860C-3A66-05B2-DD87984E9161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FA76AEF-87C1-48FE-4D95-D5A414156E6E}"/>
              </a:ext>
            </a:extLst>
          </p:cNvPr>
          <p:cNvSpPr/>
          <p:nvPr/>
        </p:nvSpPr>
        <p:spPr>
          <a:xfrm>
            <a:off x="0" y="97536"/>
            <a:ext cx="73152" cy="676046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44B9FC8-D878-0AB4-E300-CD9510F3C35C}"/>
              </a:ext>
            </a:extLst>
          </p:cNvPr>
          <p:cNvSpPr/>
          <p:nvPr/>
        </p:nvSpPr>
        <p:spPr>
          <a:xfrm>
            <a:off x="73152" y="6644640"/>
            <a:ext cx="12118848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786152A-037D-C7DE-3540-98EE8C624531}"/>
              </a:ext>
            </a:extLst>
          </p:cNvPr>
          <p:cNvSpPr/>
          <p:nvPr/>
        </p:nvSpPr>
        <p:spPr>
          <a:xfrm>
            <a:off x="118872" y="1187933"/>
            <a:ext cx="5902406" cy="2381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/>
          </a:p>
          <a:p>
            <a:endParaRPr lang="en-US" sz="2400" b="1"/>
          </a:p>
          <a:p>
            <a:endParaRPr lang="en-US" sz="2400" b="1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D8D5FD2-9350-D9F8-1CF1-79FC2EFCC772}"/>
              </a:ext>
            </a:extLst>
          </p:cNvPr>
          <p:cNvSpPr/>
          <p:nvPr/>
        </p:nvSpPr>
        <p:spPr>
          <a:xfrm>
            <a:off x="118872" y="107277"/>
            <a:ext cx="8123085" cy="59188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ea typeface="Arial Black" pitchFamily="34" charset="-122"/>
                <a:cs typeface="Arial Black" pitchFamily="34" charset="-120"/>
              </a:rPr>
              <a:t> Bivariate Analysis- Continuous </a:t>
            </a:r>
            <a:r>
              <a:rPr lang="en-US" sz="2800" b="1"/>
              <a:t>Variables</a:t>
            </a:r>
            <a:r>
              <a:rPr lang="en-US" sz="2800"/>
              <a:t> </a:t>
            </a:r>
            <a:r>
              <a:rPr lang="en-US" sz="2800" b="1">
                <a:ea typeface="Arial Black" pitchFamily="34" charset="-122"/>
                <a:cs typeface="Arial Black" pitchFamily="34" charset="-120"/>
              </a:rPr>
              <a:t> </a:t>
            </a:r>
            <a:endParaRPr lang="en-US" sz="2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9FDE71-BF78-73E6-44E7-B0A5FB1EE00E}"/>
              </a:ext>
            </a:extLst>
          </p:cNvPr>
          <p:cNvSpPr txBox="1"/>
          <p:nvPr/>
        </p:nvSpPr>
        <p:spPr>
          <a:xfrm>
            <a:off x="219009" y="4729487"/>
            <a:ext cx="5251905" cy="17466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00" b="1"/>
              <a:t>Bedrooms :</a:t>
            </a:r>
            <a:endParaRPr lang="en-US" sz="1300"/>
          </a:p>
          <a:p>
            <a:pPr marL="285750" indent="-285750" algn="just">
              <a:buFont typeface="Arial"/>
              <a:buChar char="•"/>
            </a:pPr>
            <a:r>
              <a:rPr lang="en-US" sz="1350" b="1">
                <a:ea typeface="+mn-lt"/>
                <a:cs typeface="+mn-lt"/>
              </a:rPr>
              <a:t>r = 0.31</a:t>
            </a:r>
            <a:r>
              <a:rPr lang="en-US" sz="1350">
                <a:ea typeface="+mn-lt"/>
                <a:cs typeface="+mn-lt"/>
              </a:rPr>
              <a:t> | With p&lt;0.001, r² ~ 0.3119, count of amenities is statistically significant and explains approximately 9.73%of the variation in estimated annual revenue.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350">
                <a:ea typeface="+mn-lt"/>
                <a:cs typeface="+mn-lt"/>
              </a:rPr>
              <a:t>Revenue rises from ~¥98,715 (studio) to ~¥594,776 (4+ bedrooms) a 6x revenue gap between the smallest and largest listings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350">
                <a:ea typeface="+mn-lt"/>
                <a:cs typeface="+mn-lt"/>
              </a:rPr>
              <a:t>Each additional bedroom lifts revenue by +0.33%  larger listings capture stronger booking demand.</a:t>
            </a:r>
          </a:p>
        </p:txBody>
      </p:sp>
      <p:sp>
        <p:nvSpPr>
          <p:cNvPr id="7" name="TextBox 13">
            <a:extLst>
              <a:ext uri="{FF2B5EF4-FFF2-40B4-BE49-F238E27FC236}">
                <a16:creationId xmlns:a16="http://schemas.microsoft.com/office/drawing/2014/main" id="{BD584A05-5191-EDEF-72D5-3028BE6EFF03}"/>
              </a:ext>
            </a:extLst>
          </p:cNvPr>
          <p:cNvSpPr txBox="1"/>
          <p:nvPr/>
        </p:nvSpPr>
        <p:spPr>
          <a:xfrm>
            <a:off x="5995062" y="4827999"/>
            <a:ext cx="6101611" cy="15465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1350" b="1" i="0" u="none" strike="noStrike" baseline="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Count of amenities: </a:t>
            </a:r>
          </a:p>
          <a:p>
            <a:pPr marL="285750" indent="-285750">
              <a:buFont typeface="Arial"/>
              <a:buChar char="•"/>
            </a:pPr>
            <a:r>
              <a:rPr lang="en-US" sz="1350" b="1" dirty="0">
                <a:ea typeface="+mn-lt"/>
                <a:cs typeface="+mn-lt"/>
              </a:rPr>
              <a:t>r = 0.32</a:t>
            </a:r>
            <a:r>
              <a:rPr lang="en-US" sz="1350" dirty="0">
                <a:ea typeface="+mn-lt"/>
                <a:cs typeface="+mn-lt"/>
              </a:rPr>
              <a:t> | With p&lt;0.001, r² ~ 0.105, count of amenities is statistically significant and explains approximately 10.5% of the variation in estimated annual revenue.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>
                <a:ea typeface="+mn-lt"/>
                <a:cs typeface="+mn-lt"/>
              </a:rPr>
              <a:t>Revenue rises dramatically from ~¥2,439 (5 amenities) to ~¥977,008 (50 amenities) a 400x revenue difference between poorly and well-equipped listings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>
                <a:ea typeface="+mn-lt"/>
                <a:cs typeface="+mn-lt"/>
              </a:rPr>
              <a:t>Revenue rises steadily up to 50 amenities then plateaus each amenity adds +0.29% to revenue.</a:t>
            </a: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40AF913E-CD67-7C3B-8D08-2F6373004DA2}"/>
              </a:ext>
            </a:extLst>
          </p:cNvPr>
          <p:cNvSpPr/>
          <p:nvPr/>
        </p:nvSpPr>
        <p:spPr>
          <a:xfrm>
            <a:off x="5567031" y="777330"/>
            <a:ext cx="44582" cy="570899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2" name="Picture 11" descr="A graph on a white sheet&#10;&#10;AI-generated content may be incorrect.">
            <a:extLst>
              <a:ext uri="{FF2B5EF4-FFF2-40B4-BE49-F238E27FC236}">
                <a16:creationId xmlns:a16="http://schemas.microsoft.com/office/drawing/2014/main" id="{83D5E5E6-15B7-83C8-000A-B7C409ADF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107" y="753340"/>
            <a:ext cx="3260149" cy="39797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 descr="A graph showing a line&#10;&#10;AI-generated content may be incorrect.">
            <a:extLst>
              <a:ext uri="{FF2B5EF4-FFF2-40B4-BE49-F238E27FC236}">
                <a16:creationId xmlns:a16="http://schemas.microsoft.com/office/drawing/2014/main" id="{53EB5044-0F1B-9300-59BD-D564D252F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480" y="736021"/>
            <a:ext cx="6095136" cy="39901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81973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DAE5-FA08-49AE-400D-9D8C6BB3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56DB59-D8C0-9137-60EA-31F5745B115E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7E052C-030B-EADB-3ED5-51BF35241F18}"/>
              </a:ext>
            </a:extLst>
          </p:cNvPr>
          <p:cNvSpPr/>
          <p:nvPr/>
        </p:nvSpPr>
        <p:spPr>
          <a:xfrm>
            <a:off x="0" y="97536"/>
            <a:ext cx="73152" cy="676046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D4B5E21-4320-BBE4-F0F4-9E06AB605E6B}"/>
              </a:ext>
            </a:extLst>
          </p:cNvPr>
          <p:cNvSpPr/>
          <p:nvPr/>
        </p:nvSpPr>
        <p:spPr>
          <a:xfrm>
            <a:off x="73152" y="6644640"/>
            <a:ext cx="12118848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930090C-6561-A1A8-E785-F55BAD86A573}"/>
              </a:ext>
            </a:extLst>
          </p:cNvPr>
          <p:cNvSpPr/>
          <p:nvPr/>
        </p:nvSpPr>
        <p:spPr>
          <a:xfrm>
            <a:off x="70491" y="94292"/>
            <a:ext cx="8123085" cy="59188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900" b="1">
                <a:ea typeface="Arial Black" pitchFamily="34" charset="-122"/>
                <a:cs typeface="Arial Black" pitchFamily="34" charset="-120"/>
              </a:rPr>
              <a:t> Bivariate Analysis- Continuous </a:t>
            </a:r>
            <a:r>
              <a:rPr lang="en-US" sz="2900" b="1"/>
              <a:t>Variables</a:t>
            </a:r>
            <a:r>
              <a:rPr lang="en-US" sz="2900"/>
              <a:t> </a:t>
            </a:r>
            <a:r>
              <a:rPr lang="en-US" sz="3200" b="1">
                <a:ea typeface="Arial Black" pitchFamily="34" charset="-122"/>
                <a:cs typeface="Arial Black" pitchFamily="34" charset="-120"/>
              </a:rPr>
              <a:t> </a:t>
            </a:r>
            <a:endParaRPr lang="en-US" sz="3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12D4EF-EE15-6B73-E979-33C37CC0F0A6}"/>
              </a:ext>
            </a:extLst>
          </p:cNvPr>
          <p:cNvSpPr txBox="1"/>
          <p:nvPr/>
        </p:nvSpPr>
        <p:spPr>
          <a:xfrm>
            <a:off x="1418312" y="5146993"/>
            <a:ext cx="8421153" cy="13696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Review scores - W</a:t>
            </a:r>
            <a:r>
              <a:rPr lang="en-US" sz="1400" b="1">
                <a:solidFill>
                  <a:srgbClr val="000000"/>
                </a:solidFill>
                <a:ea typeface="+mn-lt"/>
                <a:cs typeface="+mn-lt"/>
              </a:rPr>
              <a:t>eakest Continuous Predictor</a:t>
            </a:r>
            <a:endParaRPr lang="en-US" sz="140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r = 0.19 | With p&lt;0.001, r² ~0.0379, count of amenities is statistically significant and explains approximately 3.8%of the variation in estimated annual revenue 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ea typeface="Calibri" panose="020F0502020204030204"/>
                <a:cs typeface="Calibri" panose="020F0502020204030204"/>
              </a:rPr>
              <a:t>Rating of 1.0 earn approximately ¥22,026 annually while listings with a rating of 5.0 earn approximately ¥1,202,604  a 54x revenue difference driven purely by rating improvement</a:t>
            </a:r>
          </a:p>
          <a:p>
            <a:endParaRPr lang="en-US" sz="1300">
              <a:ea typeface="Calibri"/>
              <a:cs typeface="Segoe UI"/>
            </a:endParaRPr>
          </a:p>
        </p:txBody>
      </p:sp>
      <p:pic>
        <p:nvPicPr>
          <p:cNvPr id="5" name="Picture 4" descr="A graph of blue dots&#10;&#10;AI-generated content may be incorrect.">
            <a:extLst>
              <a:ext uri="{FF2B5EF4-FFF2-40B4-BE49-F238E27FC236}">
                <a16:creationId xmlns:a16="http://schemas.microsoft.com/office/drawing/2014/main" id="{7300B3B2-509F-AC35-9016-24E052CF1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162" y="873131"/>
            <a:ext cx="9365673" cy="42111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390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0685E-5A84-EC27-7CA2-7A40672F0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102F3B-0C9D-F9A6-9434-C0E05F0B9EF7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8345F0F-3DB4-7565-21B5-EB602F07E1E3}"/>
              </a:ext>
            </a:extLst>
          </p:cNvPr>
          <p:cNvSpPr/>
          <p:nvPr/>
        </p:nvSpPr>
        <p:spPr>
          <a:xfrm>
            <a:off x="0" y="97536"/>
            <a:ext cx="73152" cy="676046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BDED94-FB1D-F0B5-44DA-F12E26E9C7A2}"/>
              </a:ext>
            </a:extLst>
          </p:cNvPr>
          <p:cNvSpPr/>
          <p:nvPr/>
        </p:nvSpPr>
        <p:spPr>
          <a:xfrm>
            <a:off x="73152" y="6644640"/>
            <a:ext cx="12118848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C6556CE-1D71-518A-AFC7-E6AB6998E218}"/>
              </a:ext>
            </a:extLst>
          </p:cNvPr>
          <p:cNvSpPr/>
          <p:nvPr/>
        </p:nvSpPr>
        <p:spPr>
          <a:xfrm>
            <a:off x="217728" y="1187933"/>
            <a:ext cx="4232050" cy="23814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2400" b="1"/>
          </a:p>
          <a:p>
            <a:endParaRPr lang="en-US" sz="2400" b="1"/>
          </a:p>
          <a:p>
            <a:endParaRPr lang="en-US" sz="2400" b="1"/>
          </a:p>
          <a:p>
            <a:r>
              <a:rPr lang="en-US" sz="3200" b="1"/>
              <a:t>Regression Analysis</a:t>
            </a:r>
            <a:endParaRPr lang="en-US" sz="3200" b="1">
              <a:ea typeface="Calibri"/>
              <a:cs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A08DC2A-BCB5-A61C-39B3-C4A5BDA793C1}"/>
              </a:ext>
            </a:extLst>
          </p:cNvPr>
          <p:cNvSpPr/>
          <p:nvPr/>
        </p:nvSpPr>
        <p:spPr>
          <a:xfrm>
            <a:off x="4716566" y="510004"/>
            <a:ext cx="45719" cy="5722167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030EF-68AD-D3A3-DFDD-721ECC434F3D}"/>
              </a:ext>
            </a:extLst>
          </p:cNvPr>
          <p:cNvSpPr txBox="1"/>
          <p:nvPr/>
        </p:nvSpPr>
        <p:spPr>
          <a:xfrm>
            <a:off x="5894172" y="1668162"/>
            <a:ext cx="4169307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/>
              <a:t>Linear </a:t>
            </a:r>
            <a:endParaRPr lang="en-US" sz="3200" b="1">
              <a:ea typeface="Calibri"/>
              <a:cs typeface="Calibri"/>
            </a:endParaRPr>
          </a:p>
          <a:p>
            <a:endParaRPr lang="en-US" sz="320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/>
              <a:t>Semi-Log </a:t>
            </a:r>
            <a:endParaRPr lang="en-US" sz="3200" b="1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/>
              <a:t>Log-Log </a:t>
            </a:r>
            <a:endParaRPr lang="en-US" sz="3200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393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299F4-ED83-2C17-E670-89FC8BB4F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A80434-EE54-1EC8-BFAE-3634E3D79BE1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2FDD12E-2D4D-F9E1-C817-D39D1CD6560A}"/>
              </a:ext>
            </a:extLst>
          </p:cNvPr>
          <p:cNvSpPr/>
          <p:nvPr/>
        </p:nvSpPr>
        <p:spPr>
          <a:xfrm>
            <a:off x="73152" y="6644640"/>
            <a:ext cx="12118848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3A780C-BD73-BDD3-75B5-DE3881277055}"/>
              </a:ext>
            </a:extLst>
          </p:cNvPr>
          <p:cNvSpPr txBox="1"/>
          <p:nvPr/>
        </p:nvSpPr>
        <p:spPr>
          <a:xfrm>
            <a:off x="60914" y="105297"/>
            <a:ext cx="846868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/>
              <a:t> Model Overview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34751-4D8F-0771-2DE0-C4A105E3416B}"/>
              </a:ext>
            </a:extLst>
          </p:cNvPr>
          <p:cNvSpPr txBox="1"/>
          <p:nvPr/>
        </p:nvSpPr>
        <p:spPr>
          <a:xfrm>
            <a:off x="75043" y="655017"/>
            <a:ext cx="12149588" cy="23237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300">
                <a:latin typeface="Calibri"/>
                <a:ea typeface="Calibri"/>
                <a:cs typeface="Calibri"/>
              </a:rPr>
              <a:t>    </a:t>
            </a:r>
            <a:r>
              <a:rPr lang="en-US" sz="1300" b="0" i="0">
                <a:latin typeface="Calibri"/>
                <a:ea typeface="Calibri"/>
                <a:cs typeface="Calibri"/>
              </a:rPr>
              <a:t>8 predictors</a:t>
            </a:r>
            <a:r>
              <a:rPr lang="en-US" sz="1300">
                <a:latin typeface="Calibri"/>
                <a:ea typeface="Calibri"/>
                <a:cs typeface="Calibri"/>
              </a:rPr>
              <a:t>,</a:t>
            </a:r>
            <a:r>
              <a:rPr lang="en-US" sz="1300" b="0" i="0">
                <a:latin typeface="Calibri"/>
                <a:ea typeface="Calibri"/>
                <a:cs typeface="Calibri"/>
              </a:rPr>
              <a:t> N = 21,287 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300">
                <a:latin typeface="Calibri"/>
                <a:ea typeface="Calibri"/>
                <a:cs typeface="Calibri"/>
              </a:rPr>
              <a:t>    </a:t>
            </a:r>
            <a:r>
              <a:rPr lang="en-US" sz="1300" b="1" i="0">
                <a:latin typeface="Calibri"/>
                <a:ea typeface="Calibri"/>
                <a:cs typeface="Calibri"/>
              </a:rPr>
              <a:t>Nomina</a:t>
            </a:r>
            <a:r>
              <a:rPr lang="en-US" sz="1300" b="1" i="0" u="sng">
                <a:latin typeface="Calibri"/>
                <a:ea typeface="Calibri"/>
                <a:cs typeface="Calibri"/>
              </a:rPr>
              <a:t>l</a:t>
            </a:r>
            <a:r>
              <a:rPr lang="en-US" sz="1300" b="0" i="0">
                <a:latin typeface="Calibri"/>
                <a:ea typeface="Calibri"/>
                <a:cs typeface="Calibri"/>
              </a:rPr>
              <a:t>:</a:t>
            </a:r>
            <a:r>
              <a:rPr lang="en-US" sz="1300">
                <a:latin typeface="Calibri"/>
                <a:ea typeface="Calibri"/>
                <a:cs typeface="Calibri"/>
              </a:rPr>
              <a:t> </a:t>
            </a:r>
            <a:r>
              <a:rPr lang="en-US" sz="1300" b="0" i="0" err="1">
                <a:latin typeface="Calibri"/>
                <a:ea typeface="Calibri"/>
                <a:cs typeface="Calibri"/>
              </a:rPr>
              <a:t>property_bucket</a:t>
            </a:r>
            <a:r>
              <a:rPr lang="en-US" sz="1300">
                <a:latin typeface="Calibri"/>
                <a:ea typeface="Calibri"/>
                <a:cs typeface="Calibri"/>
              </a:rPr>
              <a:t> (ref: </a:t>
            </a:r>
            <a:r>
              <a:rPr lang="en-US" sz="1300" err="1">
                <a:latin typeface="Calibri"/>
                <a:ea typeface="Calibri"/>
                <a:cs typeface="Calibri"/>
              </a:rPr>
              <a:t>entire_place</a:t>
            </a:r>
            <a:r>
              <a:rPr lang="en-US" sz="1300">
                <a:latin typeface="Calibri"/>
                <a:ea typeface="Calibri"/>
                <a:cs typeface="Calibri"/>
              </a:rPr>
              <a:t>) | </a:t>
            </a:r>
            <a:r>
              <a:rPr lang="en-US" sz="1300" b="0" i="0" err="1">
                <a:latin typeface="Calibri"/>
                <a:ea typeface="Calibri"/>
                <a:cs typeface="Calibri"/>
              </a:rPr>
              <a:t>neighbourhood_bucket</a:t>
            </a:r>
            <a:r>
              <a:rPr lang="en-US" sz="1300">
                <a:latin typeface="Calibri"/>
                <a:ea typeface="Calibri"/>
                <a:cs typeface="Calibri"/>
              </a:rPr>
              <a:t> (ref: Greater Tokyo) | </a:t>
            </a:r>
            <a:r>
              <a:rPr lang="en-US" sz="1300" b="0" i="0" err="1">
                <a:latin typeface="Calibri"/>
                <a:ea typeface="Calibri"/>
                <a:cs typeface="Calibri"/>
              </a:rPr>
              <a:t>host_is_superhost</a:t>
            </a:r>
            <a:r>
              <a:rPr lang="en-US" sz="1300">
                <a:latin typeface="Calibri"/>
                <a:ea typeface="Calibri"/>
                <a:cs typeface="Calibri"/>
              </a:rPr>
              <a:t> (ref: 0)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300" b="1">
                <a:latin typeface="Calibri"/>
                <a:ea typeface="Calibri"/>
                <a:cs typeface="Calibri"/>
              </a:rPr>
              <a:t>    </a:t>
            </a:r>
            <a:r>
              <a:rPr lang="en-US" sz="1300" b="1" i="0">
                <a:latin typeface="Calibri"/>
                <a:ea typeface="Calibri"/>
                <a:cs typeface="Calibri"/>
              </a:rPr>
              <a:t>Continuous: </a:t>
            </a:r>
            <a:r>
              <a:rPr lang="en-US" sz="1300" b="0" i="0">
                <a:latin typeface="Calibri"/>
                <a:ea typeface="Calibri"/>
                <a:cs typeface="Calibri"/>
              </a:rPr>
              <a:t>accommodates, bedrooms, </a:t>
            </a:r>
            <a:r>
              <a:rPr lang="en-US" sz="1300" b="0" i="0" err="1">
                <a:latin typeface="Calibri"/>
                <a:ea typeface="Calibri"/>
                <a:cs typeface="Calibri"/>
              </a:rPr>
              <a:t>review_scores_rating</a:t>
            </a:r>
            <a:r>
              <a:rPr lang="en-US" sz="1300" b="0" i="0">
                <a:latin typeface="Calibri"/>
                <a:ea typeface="Calibri"/>
                <a:cs typeface="Calibri"/>
              </a:rPr>
              <a:t>, </a:t>
            </a:r>
            <a:r>
              <a:rPr lang="en-US" sz="1300" b="0" i="0" err="1">
                <a:latin typeface="Calibri"/>
                <a:ea typeface="Calibri"/>
                <a:cs typeface="Calibri"/>
              </a:rPr>
              <a:t>number_of_reviews</a:t>
            </a:r>
            <a:r>
              <a:rPr lang="en-US" sz="1300" b="0" i="0">
                <a:latin typeface="Calibri"/>
                <a:ea typeface="Calibri"/>
                <a:cs typeface="Calibri"/>
              </a:rPr>
              <a:t>, </a:t>
            </a:r>
            <a:r>
              <a:rPr lang="en-US" sz="1300" b="0" i="0" err="1">
                <a:latin typeface="Calibri"/>
                <a:ea typeface="Calibri"/>
                <a:cs typeface="Calibri"/>
              </a:rPr>
              <a:t>count_amenities</a:t>
            </a:r>
            <a:endParaRPr lang="en-US" sz="1300" b="0" i="0">
              <a:latin typeface="Calibri"/>
              <a:ea typeface="Calibri"/>
              <a:cs typeface="Calibri"/>
            </a:endParaRPr>
          </a:p>
          <a:p>
            <a:endParaRPr lang="en-US" sz="1300">
              <a:ea typeface="Calibri"/>
              <a:cs typeface="Calibri"/>
            </a:endParaRPr>
          </a:p>
          <a:p>
            <a:endParaRPr lang="en-US" sz="1300">
              <a:latin typeface="Calibri"/>
              <a:ea typeface="Calibri"/>
              <a:cs typeface="Calibri"/>
            </a:endParaRPr>
          </a:p>
          <a:p>
            <a:r>
              <a:rPr lang="en-US" sz="1300">
                <a:latin typeface="Calibri"/>
                <a:ea typeface="Calibri"/>
                <a:cs typeface="Calibri"/>
              </a:rPr>
              <a:t>     Different functional forms were tested to ensure robustness of results</a:t>
            </a:r>
          </a:p>
          <a:p>
            <a:endParaRPr lang="en-US" sz="1300">
              <a:latin typeface="Calibri"/>
              <a:ea typeface="Calibri"/>
              <a:cs typeface="Calibri"/>
            </a:endParaRPr>
          </a:p>
          <a:p>
            <a:endParaRPr lang="en-US">
              <a:latin typeface="Anthropic Sans"/>
              <a:ea typeface="Calibri"/>
              <a:cs typeface="Calibri"/>
            </a:endParaRPr>
          </a:p>
          <a:p>
            <a:endParaRPr lang="en-US">
              <a:latin typeface="Calibri" panose="020F0502020204030204"/>
              <a:ea typeface="Calibri"/>
              <a:cs typeface="Calibri"/>
            </a:endParaRPr>
          </a:p>
          <a:p>
            <a:pPr algn="ctr"/>
            <a:endParaRPr lang="en-US"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18828967-2949-43F3-18F8-84383FD086F3}"/>
              </a:ext>
            </a:extLst>
          </p:cNvPr>
          <p:cNvSpPr/>
          <p:nvPr/>
        </p:nvSpPr>
        <p:spPr>
          <a:xfrm flipH="1">
            <a:off x="7191130" y="1535743"/>
            <a:ext cx="29097" cy="4364996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A133E-4060-2432-1955-C72D861BF662}"/>
              </a:ext>
            </a:extLst>
          </p:cNvPr>
          <p:cNvSpPr txBox="1"/>
          <p:nvPr/>
        </p:nvSpPr>
        <p:spPr>
          <a:xfrm>
            <a:off x="7950200" y="1714500"/>
            <a:ext cx="2743200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1">
                <a:ea typeface="Calibri"/>
                <a:cs typeface="Calibri"/>
              </a:rPr>
              <a:t>Adj R-Square Comparison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04B9D1-D8E2-4ED8-3B0B-AE25F6493A2D}"/>
              </a:ext>
            </a:extLst>
          </p:cNvPr>
          <p:cNvSpPr txBox="1"/>
          <p:nvPr/>
        </p:nvSpPr>
        <p:spPr>
          <a:xfrm>
            <a:off x="7988300" y="2133600"/>
            <a:ext cx="2743200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>
                <a:ea typeface="Calibri"/>
                <a:cs typeface="Calibri"/>
              </a:rPr>
              <a:t>Linear</a:t>
            </a:r>
            <a:endParaRPr lang="en-US" sz="13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EA9C03-D9BE-04D6-109E-CC26AA1604CF}"/>
              </a:ext>
            </a:extLst>
          </p:cNvPr>
          <p:cNvSpPr txBox="1"/>
          <p:nvPr/>
        </p:nvSpPr>
        <p:spPr>
          <a:xfrm>
            <a:off x="7988299" y="3136900"/>
            <a:ext cx="2743200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>
                <a:ea typeface="Calibri"/>
                <a:cs typeface="Calibri"/>
              </a:rPr>
              <a:t>Semi-log</a:t>
            </a:r>
            <a:endParaRPr lang="en-US" sz="13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E04BB8-94DB-BA07-1812-E10A384CBBA5}"/>
              </a:ext>
            </a:extLst>
          </p:cNvPr>
          <p:cNvSpPr txBox="1"/>
          <p:nvPr/>
        </p:nvSpPr>
        <p:spPr>
          <a:xfrm>
            <a:off x="7988299" y="3962400"/>
            <a:ext cx="2743200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>
                <a:ea typeface="Calibri"/>
                <a:cs typeface="Calibri"/>
              </a:rPr>
              <a:t>Log-Log</a:t>
            </a:r>
            <a:endParaRPr lang="en-US" sz="1300"/>
          </a:p>
        </p:txBody>
      </p:sp>
      <p:pic>
        <p:nvPicPr>
          <p:cNvPr id="21" name="Picture 20" descr="A grey rectangle with a white background&#10;&#10;AI-generated content may be incorrect.">
            <a:extLst>
              <a:ext uri="{FF2B5EF4-FFF2-40B4-BE49-F238E27FC236}">
                <a16:creationId xmlns:a16="http://schemas.microsoft.com/office/drawing/2014/main" id="{ED630931-D102-407E-1E72-D2EF98D66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850" y="2500313"/>
            <a:ext cx="3467100" cy="6381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BB70AE3-1AA1-B05A-77F2-7C88A84C8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088" y="3505200"/>
            <a:ext cx="3552825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7DB63EB-927F-A4CE-39A8-FBA0F5BD0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7188" y="4327525"/>
            <a:ext cx="3400425" cy="4381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2772D38-62C2-EBC4-A9E5-4E1C6761E2E2}"/>
              </a:ext>
            </a:extLst>
          </p:cNvPr>
          <p:cNvSpPr txBox="1"/>
          <p:nvPr/>
        </p:nvSpPr>
        <p:spPr>
          <a:xfrm>
            <a:off x="225633" y="6211403"/>
            <a:ext cx="9918700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Number of reviews = highest F ratio across all 3 models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40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most consistent and reliable predictor of revenue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353DC9B-3DAE-742C-EE5A-C7BE45251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997747"/>
              </p:ext>
            </p:extLst>
          </p:nvPr>
        </p:nvGraphicFramePr>
        <p:xfrm>
          <a:off x="334012" y="2002885"/>
          <a:ext cx="5914605" cy="3952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59529">
                  <a:extLst>
                    <a:ext uri="{9D8B030D-6E8A-4147-A177-3AD203B41FA5}">
                      <a16:colId xmlns:a16="http://schemas.microsoft.com/office/drawing/2014/main" val="3651807030"/>
                    </a:ext>
                  </a:extLst>
                </a:gridCol>
                <a:gridCol w="1090703">
                  <a:extLst>
                    <a:ext uri="{9D8B030D-6E8A-4147-A177-3AD203B41FA5}">
                      <a16:colId xmlns:a16="http://schemas.microsoft.com/office/drawing/2014/main" val="2906862219"/>
                    </a:ext>
                  </a:extLst>
                </a:gridCol>
                <a:gridCol w="955252">
                  <a:extLst>
                    <a:ext uri="{9D8B030D-6E8A-4147-A177-3AD203B41FA5}">
                      <a16:colId xmlns:a16="http://schemas.microsoft.com/office/drawing/2014/main" val="2278606052"/>
                    </a:ext>
                  </a:extLst>
                </a:gridCol>
                <a:gridCol w="1209121">
                  <a:extLst>
                    <a:ext uri="{9D8B030D-6E8A-4147-A177-3AD203B41FA5}">
                      <a16:colId xmlns:a16="http://schemas.microsoft.com/office/drawing/2014/main" val="3021247001"/>
                    </a:ext>
                  </a:extLst>
                </a:gridCol>
              </a:tblGrid>
              <a:tr h="285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Metric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Linear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Semi-log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Log-log </a:t>
                      </a:r>
                      <a:r>
                        <a:rPr lang="en-US" sz="1800" b="0">
                          <a:solidFill>
                            <a:schemeClr val="accent6">
                              <a:lumMod val="49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504816"/>
                  </a:ext>
                </a:extLst>
              </a:tr>
              <a:tr h="2850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Adj R²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37.1%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37.2%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/>
                        <a:t>57.4%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742108"/>
                  </a:ext>
                </a:extLst>
              </a:tr>
              <a:tr h="315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Central Tokyo vs Greater Tokyo 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(Largest overall impact)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+¥1.5M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+125%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/>
                        <a:t>+114%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147347"/>
                  </a:ext>
                </a:extLst>
              </a:tr>
              <a:tr h="285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err="1"/>
                        <a:t>Superhost</a:t>
                      </a:r>
                      <a:r>
                        <a:rPr lang="en-US" sz="1300"/>
                        <a:t> vs Non-</a:t>
                      </a:r>
                      <a:r>
                        <a:rPr lang="en-US" sz="1300" err="1"/>
                        <a:t>Superhost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+¥602K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+37%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/>
                        <a:t>+25%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154386"/>
                  </a:ext>
                </a:extLst>
              </a:tr>
              <a:tr h="3150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Private room vs Entire Place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–¥469K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–41%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/>
                        <a:t>–41%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626228"/>
                  </a:ext>
                </a:extLst>
              </a:tr>
              <a:tr h="3150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Shared room vs Entire Place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–¥700K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–65%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/>
                        <a:t>–65%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370003"/>
                  </a:ext>
                </a:extLst>
              </a:tr>
              <a:tr h="3150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Review score 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+¥361K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+33.5%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/>
                        <a:t>+0.80%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134112"/>
                  </a:ext>
                </a:extLst>
              </a:tr>
              <a:tr h="3150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Accommodates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+¥197K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+8.3%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/>
                        <a:t>+0.40%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409205"/>
                  </a:ext>
                </a:extLst>
              </a:tr>
              <a:tr h="3150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Bedroom 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+¥389K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+11.2%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+0.33%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631132"/>
                  </a:ext>
                </a:extLst>
              </a:tr>
              <a:tr h="3150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Amenities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+¥34K 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+1.75%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+0.29%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831212"/>
                  </a:ext>
                </a:extLst>
              </a:tr>
              <a:tr h="3150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Review Score </a:t>
                      </a:r>
                      <a:endParaRPr lang="en-US" sz="1300" b="0" i="1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+¥360K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+33.5%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+0.80%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21863"/>
                  </a:ext>
                </a:extLst>
              </a:tr>
              <a:tr h="3150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Number of Reviews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+¥9.5K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+0.53%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+0.47%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127155"/>
                  </a:ext>
                </a:extLst>
              </a:tr>
            </a:tbl>
          </a:graphicData>
        </a:graphic>
      </p:graphicFrame>
      <p:sp>
        <p:nvSpPr>
          <p:cNvPr id="6" name="Shape 1">
            <a:extLst>
              <a:ext uri="{FF2B5EF4-FFF2-40B4-BE49-F238E27FC236}">
                <a16:creationId xmlns:a16="http://schemas.microsoft.com/office/drawing/2014/main" id="{01CBA870-0052-AB2F-030F-7B3EF6847EAD}"/>
              </a:ext>
            </a:extLst>
          </p:cNvPr>
          <p:cNvSpPr/>
          <p:nvPr/>
        </p:nvSpPr>
        <p:spPr>
          <a:xfrm>
            <a:off x="0" y="97536"/>
            <a:ext cx="73152" cy="676046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64236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42E6-D3F9-2BD6-2C38-AD22EEEE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D977B2-7DFC-A335-8041-AAD6DE458603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C6F4932-DAF0-025D-5C0C-C1EAE6851351}"/>
              </a:ext>
            </a:extLst>
          </p:cNvPr>
          <p:cNvSpPr/>
          <p:nvPr/>
        </p:nvSpPr>
        <p:spPr>
          <a:xfrm>
            <a:off x="0" y="97536"/>
            <a:ext cx="73152" cy="676046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F9E8503-2B15-3CED-DB95-78B705CC1731}"/>
              </a:ext>
            </a:extLst>
          </p:cNvPr>
          <p:cNvSpPr/>
          <p:nvPr/>
        </p:nvSpPr>
        <p:spPr>
          <a:xfrm>
            <a:off x="73152" y="6644640"/>
            <a:ext cx="12118848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2784CA1-2583-F08E-52A1-A376F95387D5}"/>
              </a:ext>
            </a:extLst>
          </p:cNvPr>
          <p:cNvSpPr/>
          <p:nvPr/>
        </p:nvSpPr>
        <p:spPr>
          <a:xfrm>
            <a:off x="118872" y="1187933"/>
            <a:ext cx="5902406" cy="2381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/>
          </a:p>
          <a:p>
            <a:endParaRPr lang="en-US" sz="2400" b="1"/>
          </a:p>
          <a:p>
            <a:endParaRPr lang="en-US" sz="2400" b="1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86B31B7-BE4D-419F-A50D-8CA000239FE9}"/>
              </a:ext>
            </a:extLst>
          </p:cNvPr>
          <p:cNvSpPr/>
          <p:nvPr/>
        </p:nvSpPr>
        <p:spPr>
          <a:xfrm>
            <a:off x="118872" y="137159"/>
            <a:ext cx="8123085" cy="59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F2DC46-A319-FEAA-A3F7-D26E70988E94}"/>
              </a:ext>
            </a:extLst>
          </p:cNvPr>
          <p:cNvSpPr/>
          <p:nvPr/>
        </p:nvSpPr>
        <p:spPr>
          <a:xfrm>
            <a:off x="62096" y="105701"/>
            <a:ext cx="8123085" cy="59188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defTabSz="914400">
              <a:defRPr/>
            </a:pPr>
            <a:r>
              <a:rPr lang="en-US" sz="3200" b="1"/>
              <a:t> Residual Diagnostics Test  </a:t>
            </a: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3C98C5BF-BFC8-2B7D-BFBE-5B4FBB024E7B}"/>
              </a:ext>
            </a:extLst>
          </p:cNvPr>
          <p:cNvSpPr/>
          <p:nvPr/>
        </p:nvSpPr>
        <p:spPr>
          <a:xfrm flipH="1">
            <a:off x="4165022" y="1515374"/>
            <a:ext cx="45719" cy="3765239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49E36AE9-E9A8-745A-C198-281BA03DD88E}"/>
              </a:ext>
            </a:extLst>
          </p:cNvPr>
          <p:cNvSpPr/>
          <p:nvPr/>
        </p:nvSpPr>
        <p:spPr>
          <a:xfrm>
            <a:off x="8267835" y="1527611"/>
            <a:ext cx="45719" cy="3744394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2E372F-FF4A-24B8-8C6D-1D8F87EF8387}"/>
              </a:ext>
            </a:extLst>
          </p:cNvPr>
          <p:cNvSpPr txBox="1"/>
          <p:nvPr/>
        </p:nvSpPr>
        <p:spPr>
          <a:xfrm>
            <a:off x="118873" y="1033848"/>
            <a:ext cx="3979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Residual Fit: Linear Regression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7BA859-EDC7-C1DC-267E-DA38D0FDDADB}"/>
              </a:ext>
            </a:extLst>
          </p:cNvPr>
          <p:cNvSpPr txBox="1"/>
          <p:nvPr/>
        </p:nvSpPr>
        <p:spPr>
          <a:xfrm>
            <a:off x="4444679" y="1033848"/>
            <a:ext cx="3797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Residual Fit :Semi-Log Regression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11D722-1661-F881-DA69-9297FF618AE8}"/>
              </a:ext>
            </a:extLst>
          </p:cNvPr>
          <p:cNvSpPr txBox="1"/>
          <p:nvPr/>
        </p:nvSpPr>
        <p:spPr>
          <a:xfrm>
            <a:off x="8447697" y="1046616"/>
            <a:ext cx="4445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Residual Fit: Log-Log Regression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A08A49-E0CC-BB81-61C1-397444112274}"/>
              </a:ext>
            </a:extLst>
          </p:cNvPr>
          <p:cNvSpPr txBox="1"/>
          <p:nvPr/>
        </p:nvSpPr>
        <p:spPr>
          <a:xfrm>
            <a:off x="164062" y="1479228"/>
            <a:ext cx="3250209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00" b="1"/>
              <a:t>QQ Plot:</a:t>
            </a:r>
          </a:p>
          <a:p>
            <a:endParaRPr lang="en-US" sz="1300" b="1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00"/>
              <a:t>  Strong deviation from normality (tails)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00"/>
              <a:t>  Wide residual spread (–33 to +27)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00"/>
              <a:t>  Poor fit</a:t>
            </a:r>
          </a:p>
          <a:p>
            <a:pPr fontAlgn="base"/>
            <a:endParaRPr lang="en-US" sz="1300"/>
          </a:p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62157A4-696B-1226-E788-861858FF5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10" y="2919426"/>
            <a:ext cx="2053673" cy="203167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9D0C09D-0DFF-930D-4634-D76D9C381773}"/>
              </a:ext>
            </a:extLst>
          </p:cNvPr>
          <p:cNvSpPr txBox="1"/>
          <p:nvPr/>
        </p:nvSpPr>
        <p:spPr>
          <a:xfrm>
            <a:off x="271272" y="5262948"/>
            <a:ext cx="11823571" cy="11233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00" b="1"/>
              <a:t>Anderson-Darling Goodness of Fit Test for all the 3 models :</a:t>
            </a:r>
            <a:endParaRPr lang="en-US" sz="130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300"/>
              <a:t>p &lt; .0001 → reject null hypothesis, residuals are statistically not normally distributed </a:t>
            </a:r>
            <a:endParaRPr lang="en-US" sz="1300">
              <a:ea typeface="Calibri"/>
              <a:cs typeface="Calibri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400"/>
              <a:t>With large sample size (N = 21K), the test is overly sensitive visual improvement is more meaningful.</a:t>
            </a:r>
            <a:endParaRPr lang="en-US" sz="130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300"/>
          </a:p>
          <a:p>
            <a:pPr fontAlgn="base"/>
            <a:r>
              <a:rPr lang="en-US" sz="1400"/>
              <a:t>While all models violate strict normality, the log-log model significantly improves residual behavior and provides the most reliable fit</a:t>
            </a:r>
            <a:endParaRPr lang="en-US" sz="1300">
              <a:ea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8DD7E5-C175-942C-BAE2-8C33E1CD70E6}"/>
              </a:ext>
            </a:extLst>
          </p:cNvPr>
          <p:cNvSpPr txBox="1"/>
          <p:nvPr/>
        </p:nvSpPr>
        <p:spPr>
          <a:xfrm>
            <a:off x="4323370" y="1515374"/>
            <a:ext cx="4262792" cy="21082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00" b="1"/>
              <a:t>QQ Plot:</a:t>
            </a:r>
            <a:endParaRPr lang="en-US" altLang="en-US" sz="1300"/>
          </a:p>
          <a:p>
            <a:pPr defTabSz="914400"/>
            <a:endParaRPr lang="en-US" sz="1300" b="1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00"/>
              <a:t>  Improvement in spread (–18.6 to +3.0)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00"/>
              <a:t>  Still skewed (left tail issue)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00"/>
              <a:t>  Moderate improvement</a:t>
            </a:r>
          </a:p>
          <a:p>
            <a:endParaRPr lang="en-US" sz="1300" b="1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300"/>
          </a:p>
          <a:p>
            <a:br>
              <a:rPr lang="en-US" sz="1400"/>
            </a:br>
            <a:endParaRPr lang="en-US" sz="1300"/>
          </a:p>
          <a:p>
            <a:endParaRPr lang="en-US" sz="1300" b="1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F9A054D-2A3B-4278-C66A-63700DEB6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6144" y="2827069"/>
            <a:ext cx="2287444" cy="2295673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67A0763-CD89-37AC-DDF5-270CABF2E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147" y="2971683"/>
            <a:ext cx="2137788" cy="214545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DB36A9A-DB6D-0F2D-AB66-49D33BFB8285}"/>
              </a:ext>
            </a:extLst>
          </p:cNvPr>
          <p:cNvSpPr txBox="1"/>
          <p:nvPr/>
        </p:nvSpPr>
        <p:spPr>
          <a:xfrm>
            <a:off x="8436294" y="1475178"/>
            <a:ext cx="3725456" cy="14927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00" b="1"/>
              <a:t>QQ Plot:</a:t>
            </a:r>
            <a:endParaRPr lang="en-US" altLang="en-US" sz="1300"/>
          </a:p>
          <a:p>
            <a:pPr defTabSz="914400"/>
            <a:endParaRPr lang="en-US" sz="1300" b="1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00"/>
              <a:t>  Tightest residual range (–3.57 to +3.72)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00"/>
              <a:t>   More symmetric distribution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00"/>
              <a:t>    Best overall fit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30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539792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49BEB-9953-E185-E684-A87BF7882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66EAEC-5AB8-532F-3BE3-B5CD3F739CEA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DB0C24D-3571-A57E-9E41-0066E3D32C19}"/>
              </a:ext>
            </a:extLst>
          </p:cNvPr>
          <p:cNvSpPr/>
          <p:nvPr/>
        </p:nvSpPr>
        <p:spPr>
          <a:xfrm>
            <a:off x="0" y="97536"/>
            <a:ext cx="73152" cy="676046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F6E8A35-9198-9CA1-CAFF-B5C9B4DEA272}"/>
              </a:ext>
            </a:extLst>
          </p:cNvPr>
          <p:cNvSpPr/>
          <p:nvPr/>
        </p:nvSpPr>
        <p:spPr>
          <a:xfrm>
            <a:off x="73152" y="6644640"/>
            <a:ext cx="12118848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C4417D-8317-855A-0B16-BE51E30A831D}"/>
              </a:ext>
            </a:extLst>
          </p:cNvPr>
          <p:cNvSpPr/>
          <p:nvPr/>
        </p:nvSpPr>
        <p:spPr>
          <a:xfrm>
            <a:off x="118872" y="1187933"/>
            <a:ext cx="5902406" cy="2381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/>
          </a:p>
          <a:p>
            <a:endParaRPr lang="en-US" sz="2400" b="1"/>
          </a:p>
          <a:p>
            <a:endParaRPr lang="en-US" sz="2400" b="1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02A7F41-6CEC-48EC-3CF3-4D52EBC81E46}"/>
              </a:ext>
            </a:extLst>
          </p:cNvPr>
          <p:cNvSpPr/>
          <p:nvPr/>
        </p:nvSpPr>
        <p:spPr>
          <a:xfrm>
            <a:off x="93042" y="849351"/>
            <a:ext cx="8148915" cy="449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3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C2CB0-B7C1-625E-65D0-78DA4CD7C80D}"/>
              </a:ext>
            </a:extLst>
          </p:cNvPr>
          <p:cNvSpPr txBox="1"/>
          <p:nvPr/>
        </p:nvSpPr>
        <p:spPr>
          <a:xfrm>
            <a:off x="60914" y="597188"/>
            <a:ext cx="12219284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/>
          </a:p>
          <a:p>
            <a:endParaRPr lang="en-US" sz="1600">
              <a:ea typeface="Calibri"/>
              <a:cs typeface="Calibri"/>
            </a:endParaRPr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BF5269-F05D-068D-D128-298EB8DAF147}"/>
              </a:ext>
            </a:extLst>
          </p:cNvPr>
          <p:cNvSpPr txBox="1"/>
          <p:nvPr/>
        </p:nvSpPr>
        <p:spPr>
          <a:xfrm>
            <a:off x="246847" y="1736805"/>
            <a:ext cx="4963668" cy="49398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00"/>
              <a:t>⭐  </a:t>
            </a:r>
            <a:r>
              <a:rPr lang="en-US" sz="1300" b="1"/>
              <a:t>Demand Signals:</a:t>
            </a:r>
          </a:p>
          <a:p>
            <a:endParaRPr lang="en-US" sz="1300" b="1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00"/>
              <a:t>   Review Score → +0.80% (strongest elasticity)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00"/>
              <a:t>   Reviews → +0.47% (</a:t>
            </a:r>
            <a:r>
              <a:rPr lang="en-US" sz="1300"/>
              <a:t>most statistically reliable driver</a:t>
            </a:r>
            <a:r>
              <a:rPr lang="en-US" altLang="en-US" sz="1300"/>
              <a:t>)</a:t>
            </a:r>
            <a:endParaRPr lang="en-US" altLang="en-US" sz="1300">
              <a:ea typeface="Calibri"/>
              <a:cs typeface="Calibri"/>
            </a:endParaRPr>
          </a:p>
          <a:p>
            <a:endParaRPr lang="en-US" sz="1300">
              <a:ea typeface="+mn-lt"/>
              <a:cs typeface="+mn-lt"/>
            </a:endParaRPr>
          </a:p>
          <a:p>
            <a:r>
              <a:rPr lang="en-US" sz="1300">
                <a:ea typeface="+mn-lt"/>
                <a:cs typeface="+mn-lt"/>
              </a:rPr>
              <a:t>Trust signals increase demand and pricing power</a:t>
            </a:r>
            <a:endParaRPr lang="en-US"/>
          </a:p>
          <a:p>
            <a:endParaRPr lang="en-US" sz="1300"/>
          </a:p>
          <a:p>
            <a:r>
              <a:rPr lang="en-US" sz="1300"/>
              <a:t>👥  </a:t>
            </a:r>
            <a:r>
              <a:rPr lang="en-US" sz="1300" b="1"/>
              <a:t>Capacity Drivers:</a:t>
            </a:r>
            <a:endParaRPr lang="en-US"/>
          </a:p>
          <a:p>
            <a:endParaRPr lang="en-US" sz="1300" b="1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00"/>
              <a:t>    Accommodates → +0.40%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00"/>
              <a:t>    Bedrooms → +0.33%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0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300"/>
              <a:t>Larger listings scale revenue through higher booking potential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00"/>
          </a:p>
          <a:p>
            <a:r>
              <a:rPr lang="en-US" sz="1400"/>
              <a:t>🛎️  </a:t>
            </a:r>
            <a:r>
              <a:rPr lang="en-US" sz="1300" b="1"/>
              <a:t>Guest Experience Drivers: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Amenities → +0.29%</a:t>
            </a:r>
            <a:endParaRPr lang="en-US" sz="13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1"/>
          </a:p>
          <a:p>
            <a:r>
              <a:rPr lang="en-US" sz="1300">
                <a:ea typeface="+mn-lt"/>
                <a:cs typeface="+mn-lt"/>
              </a:rPr>
              <a:t>Amenities improve perceived value but have smaller marginal impact</a:t>
            </a:r>
            <a:endParaRPr lang="en-US">
              <a:ea typeface="+mn-lt"/>
              <a:cs typeface="+mn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00"/>
          </a:p>
          <a:p>
            <a:endParaRPr lang="en-US" sz="1300" b="1"/>
          </a:p>
          <a:p>
            <a:endParaRPr lang="en-US" b="1"/>
          </a:p>
          <a:p>
            <a:endParaRPr lang="en-US"/>
          </a:p>
          <a:p>
            <a:endParaRPr lang="en-US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04B70981-51F0-6338-E891-DCC5534E96B5}"/>
              </a:ext>
            </a:extLst>
          </p:cNvPr>
          <p:cNvSpPr/>
          <p:nvPr/>
        </p:nvSpPr>
        <p:spPr>
          <a:xfrm>
            <a:off x="5209036" y="1505995"/>
            <a:ext cx="22140" cy="4510733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7A1893-DBB5-EAA0-80FC-FAEDDCD06C5B}"/>
              </a:ext>
            </a:extLst>
          </p:cNvPr>
          <p:cNvSpPr txBox="1"/>
          <p:nvPr/>
        </p:nvSpPr>
        <p:spPr>
          <a:xfrm>
            <a:off x="5551865" y="1783283"/>
            <a:ext cx="6042660" cy="40934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00"/>
              <a:t>📍 </a:t>
            </a:r>
            <a:r>
              <a:rPr lang="en-US" sz="1300" b="1"/>
              <a:t>Location (BIGGEST EFFECT)</a:t>
            </a:r>
          </a:p>
          <a:p>
            <a:endParaRPr lang="en-US" sz="13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Central Tokyo → +114%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East/South → ~+52%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West → +44% </a:t>
            </a:r>
          </a:p>
          <a:p>
            <a:endParaRPr lang="en-US" sz="1300"/>
          </a:p>
          <a:p>
            <a:r>
              <a:rPr lang="en-US" sz="1300"/>
              <a:t>Location drives the largest step-change in revenue</a:t>
            </a:r>
          </a:p>
          <a:p>
            <a:endParaRPr lang="en-US" sz="1300"/>
          </a:p>
          <a:p>
            <a:r>
              <a:rPr lang="en-US" sz="1300"/>
              <a:t>🏠  </a:t>
            </a:r>
            <a:r>
              <a:rPr lang="en-US" sz="1300" b="1"/>
              <a:t>Property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Shared → –65%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Private → –41%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Hotel → –17%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Unique → Not significant </a:t>
            </a:r>
          </a:p>
          <a:p>
            <a:br>
              <a:rPr lang="en-US" sz="1300"/>
            </a:br>
            <a:r>
              <a:rPr lang="en-US" sz="1300"/>
              <a:t>Guests strongly prefer privacy and full-property access</a:t>
            </a:r>
          </a:p>
          <a:p>
            <a:endParaRPr lang="en-US" sz="1300"/>
          </a:p>
          <a:p>
            <a:r>
              <a:rPr lang="en-US" sz="1300"/>
              <a:t>🏅 </a:t>
            </a:r>
            <a:r>
              <a:rPr lang="en-US" sz="1300" b="1"/>
              <a:t>Host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err="1"/>
              <a:t>Superhost</a:t>
            </a:r>
            <a:r>
              <a:rPr lang="en-US" sz="1300"/>
              <a:t> → +24.6%</a:t>
            </a:r>
            <a:endParaRPr lang="en-US" sz="1300" b="1"/>
          </a:p>
          <a:p>
            <a:endParaRPr lang="en-US" sz="1300"/>
          </a:p>
          <a:p>
            <a:r>
              <a:rPr lang="en-US" sz="1300" err="1"/>
              <a:t>Superhost</a:t>
            </a:r>
            <a:r>
              <a:rPr lang="en-US" sz="1300"/>
              <a:t> status signals trust and increases willingness to pay</a:t>
            </a:r>
            <a:endParaRPr lang="en-US" sz="13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6340B3-336D-F98A-8DE6-2B228E860CA9}"/>
              </a:ext>
            </a:extLst>
          </p:cNvPr>
          <p:cNvSpPr txBox="1"/>
          <p:nvPr/>
        </p:nvSpPr>
        <p:spPr>
          <a:xfrm>
            <a:off x="88623" y="6258095"/>
            <a:ext cx="11920728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 Location drives the largest revenue jump, while reviews and ratings drive consistent, scalable growth</a:t>
            </a:r>
          </a:p>
          <a:p>
            <a:endParaRPr lang="en-US" sz="700">
              <a:ea typeface="+mn-lt"/>
              <a:cs typeface="+mn-lt"/>
            </a:endParaRPr>
          </a:p>
          <a:p>
            <a:endParaRPr lang="en-US" sz="1600">
              <a:ea typeface="+mn-lt"/>
              <a:cs typeface="+mn-lt"/>
            </a:endParaRPr>
          </a:p>
          <a:p>
            <a:endParaRPr lang="en-US" sz="700"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A9B9D9-119E-87CC-B645-90680A211418}"/>
              </a:ext>
            </a:extLst>
          </p:cNvPr>
          <p:cNvSpPr txBox="1"/>
          <p:nvPr/>
        </p:nvSpPr>
        <p:spPr>
          <a:xfrm>
            <a:off x="60914" y="105436"/>
            <a:ext cx="846868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/>
              <a:t> Log-Log</a:t>
            </a:r>
            <a:r>
              <a:rPr lang="en-US" sz="3200"/>
              <a:t> </a:t>
            </a:r>
            <a:r>
              <a:rPr lang="en-US" sz="3200" b="1"/>
              <a:t>Regression – Best Model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2E4E15-A407-7B09-6651-4F32C9FE8447}"/>
              </a:ext>
            </a:extLst>
          </p:cNvPr>
          <p:cNvSpPr txBox="1"/>
          <p:nvPr/>
        </p:nvSpPr>
        <p:spPr>
          <a:xfrm>
            <a:off x="212343" y="839492"/>
            <a:ext cx="11661179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1" i="1">
                <a:ea typeface="Calibri"/>
                <a:cs typeface="Calibri"/>
              </a:rPr>
              <a:t>Log(Revenue) = 8.98 + 0.799·log(Rating) + 0.466·log(Reviews) + 0.336·log(Bedrooms+1) + 0.402·log(Accommodates) + 0.288·log(Amenities+1) + [Dummies] +  </a:t>
            </a:r>
            <a:r>
              <a:rPr lang="en-US" sz="1300" b="1">
                <a:ea typeface="Calibri"/>
                <a:cs typeface="Calibri"/>
              </a:rPr>
              <a:t> </a:t>
            </a:r>
            <a:r>
              <a:rPr lang="el-GR" sz="1300" b="1">
                <a:ea typeface="Calibri"/>
                <a:cs typeface="Calibri"/>
              </a:rPr>
              <a:t>ε</a:t>
            </a:r>
            <a:endParaRPr lang="en-US" sz="1300" b="1">
              <a:ea typeface="Calibri"/>
              <a:cs typeface="Calibri"/>
            </a:endParaRPr>
          </a:p>
          <a:p>
            <a:endParaRPr lang="en-US" sz="1100" i="1">
              <a:ea typeface="Calibri"/>
              <a:cs typeface="Calibri"/>
            </a:endParaRPr>
          </a:p>
          <a:p>
            <a:r>
              <a:rPr lang="en-US" sz="1100">
                <a:ea typeface="Calibri"/>
                <a:cs typeface="Calibri"/>
              </a:rPr>
              <a:t>Coefficients represent elasticity: % change in revenue for a 1% change in input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41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78884-6F35-A8A9-5D0B-07F4C00E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58B027-716D-0941-50FE-343DCF69BB41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9387FCF-C03A-3C2A-55A9-BD4829846B93}"/>
              </a:ext>
            </a:extLst>
          </p:cNvPr>
          <p:cNvSpPr/>
          <p:nvPr/>
        </p:nvSpPr>
        <p:spPr>
          <a:xfrm>
            <a:off x="0" y="97536"/>
            <a:ext cx="73152" cy="676046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244C6B0-BE85-2F4A-B8AA-348952E9A5C7}"/>
              </a:ext>
            </a:extLst>
          </p:cNvPr>
          <p:cNvSpPr/>
          <p:nvPr/>
        </p:nvSpPr>
        <p:spPr>
          <a:xfrm>
            <a:off x="73152" y="6644640"/>
            <a:ext cx="12118848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736CEB3-ADA7-8DBB-4B6D-657AE453C434}"/>
              </a:ext>
            </a:extLst>
          </p:cNvPr>
          <p:cNvSpPr/>
          <p:nvPr/>
        </p:nvSpPr>
        <p:spPr>
          <a:xfrm>
            <a:off x="118872" y="1187933"/>
            <a:ext cx="5902406" cy="2381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/>
          </a:p>
          <a:p>
            <a:endParaRPr lang="en-US" sz="2400" b="1"/>
          </a:p>
          <a:p>
            <a:endParaRPr lang="en-US" sz="2400" b="1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DCF5CA0-9CFF-DA0C-EDA6-CB0D48A80112}"/>
              </a:ext>
            </a:extLst>
          </p:cNvPr>
          <p:cNvSpPr/>
          <p:nvPr/>
        </p:nvSpPr>
        <p:spPr>
          <a:xfrm>
            <a:off x="118872" y="137159"/>
            <a:ext cx="8123085" cy="59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CB52A6-A6C3-284E-2742-23AE02C3390C}"/>
              </a:ext>
            </a:extLst>
          </p:cNvPr>
          <p:cNvSpPr/>
          <p:nvPr/>
        </p:nvSpPr>
        <p:spPr>
          <a:xfrm>
            <a:off x="209489" y="2589934"/>
            <a:ext cx="8123085" cy="59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defTabSz="914400">
              <a:defRPr/>
            </a:pPr>
            <a:r>
              <a:rPr lang="en-US" sz="3200" b="1"/>
              <a:t>Recommendations</a:t>
            </a: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E80328F7-288C-BE47-7E49-5C540A7D6DFE}"/>
              </a:ext>
            </a:extLst>
          </p:cNvPr>
          <p:cNvSpPr/>
          <p:nvPr/>
        </p:nvSpPr>
        <p:spPr>
          <a:xfrm>
            <a:off x="3622853" y="510005"/>
            <a:ext cx="45719" cy="5722167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64255-0F63-79B7-82C3-F67ACC82E054}"/>
              </a:ext>
            </a:extLst>
          </p:cNvPr>
          <p:cNvSpPr txBox="1"/>
          <p:nvPr/>
        </p:nvSpPr>
        <p:spPr>
          <a:xfrm>
            <a:off x="3863782" y="352375"/>
            <a:ext cx="7791539" cy="61863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⭐ </a:t>
            </a:r>
            <a:r>
              <a:rPr lang="en-US" b="1"/>
              <a:t>Improve Review Scores (Highest Impact):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Ratings have the strongest elasticity (+0.80%)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Focus on host coaching, guest feedback, post-stay engagement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/>
          </a:p>
          <a:p>
            <a:r>
              <a:rPr lang="en-US"/>
              <a:t>🏅 </a:t>
            </a:r>
            <a:r>
              <a:rPr lang="en-US" b="1"/>
              <a:t>Grow </a:t>
            </a:r>
            <a:r>
              <a:rPr lang="en-US" b="1" err="1"/>
              <a:t>Superhost</a:t>
            </a:r>
            <a:r>
              <a:rPr lang="en-US" b="1"/>
              <a:t> Base</a:t>
            </a:r>
            <a:endParaRPr lang="en-US" b="1">
              <a:ea typeface="Calibri"/>
              <a:cs typeface="Calibri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altLang="en-US"/>
              <a:t>   </a:t>
            </a:r>
            <a:r>
              <a:rPr lang="en-US" altLang="en-US" err="1"/>
              <a:t>Superhosts</a:t>
            </a:r>
            <a:r>
              <a:rPr lang="en-US" altLang="en-US"/>
              <a:t> earn +24.6% more revenue </a:t>
            </a:r>
            <a:endParaRPr lang="en-US" altLang="en-US">
              <a:ea typeface="Calibri" panose="020F0502020204030204"/>
              <a:cs typeface="Calibri" panose="020F0502020204030204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altLang="en-US"/>
              <a:t>   Invest in retention, incentives, and onboarding programs</a:t>
            </a:r>
            <a:endParaRPr lang="en-US" altLang="en-US">
              <a:ea typeface="Calibri" panose="020F0502020204030204"/>
              <a:cs typeface="Calibri" panose="020F0502020204030204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en-US" altLang="en-US">
              <a:ea typeface="Calibri" panose="020F0502020204030204"/>
              <a:cs typeface="Calibri" panose="020F0502020204030204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/>
              <a:t>🏠 </a:t>
            </a:r>
            <a:r>
              <a:rPr lang="en-US" b="1"/>
              <a:t>Promote Entire Place Listings</a:t>
            </a:r>
            <a:endParaRPr lang="en-US" altLang="en-US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altLang="en-US"/>
              <a:t>   Private: –41% | Shared: –65% vs entire place </a:t>
            </a:r>
            <a:endParaRPr lang="en-US" altLang="en-US">
              <a:ea typeface="Calibri" panose="020F0502020204030204"/>
              <a:cs typeface="Calibri" panose="020F0502020204030204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altLang="en-US"/>
              <a:t>   Incentivize full-property listings &amp; conversions</a:t>
            </a:r>
            <a:endParaRPr lang="en-US" altLang="en-US">
              <a:ea typeface="Calibri" panose="020F0502020204030204"/>
              <a:cs typeface="Calibri" panose="020F0502020204030204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/>
              <a:t>📍 </a:t>
            </a:r>
            <a:r>
              <a:rPr lang="en-US" b="1"/>
              <a:t>Expand High-Potential Locations</a:t>
            </a:r>
            <a:endParaRPr lang="en-US" altLang="en-US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altLang="en-US"/>
              <a:t>   Central Tokyo: +114% (largest impact) </a:t>
            </a:r>
            <a:endParaRPr lang="en-US" altLang="en-US">
              <a:ea typeface="Calibri" panose="020F0502020204030204"/>
              <a:cs typeface="Calibri" panose="020F0502020204030204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altLang="en-US"/>
              <a:t>   East/South/West: +45%–58%</a:t>
            </a:r>
            <a:endParaRPr lang="en-US" altLang="en-US">
              <a:ea typeface="Calibri" panose="020F0502020204030204"/>
              <a:cs typeface="Calibri" panose="020F0502020204030204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/>
              <a:t>   Target </a:t>
            </a:r>
            <a:r>
              <a:rPr lang="en-US" b="1"/>
              <a:t>host acquisition + marketing</a:t>
            </a:r>
            <a:r>
              <a:rPr lang="en-US"/>
              <a:t> in these areas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r>
              <a:rPr lang="en-US"/>
              <a:t>🛠️ </a:t>
            </a:r>
            <a:r>
              <a:rPr lang="en-US" b="1"/>
              <a:t>Drive Capacity &amp; Amenity Upgrades</a:t>
            </a:r>
            <a:endParaRPr lang="en-US" altLang="en-US" sz="2400" b="1">
              <a:latin typeface="Arial" panose="020B06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altLang="en-US"/>
              <a:t>    Amenities, bedrooms, capacity → positive revenue impact </a:t>
            </a:r>
            <a:endParaRPr lang="en-US" altLang="en-US">
              <a:ea typeface="Calibri" panose="020F0502020204030204"/>
              <a:cs typeface="Calibri" panose="020F0502020204030204"/>
            </a:endParaRPr>
          </a:p>
          <a:p>
            <a:pPr marL="285750" lvl="0" indent="-285750" defTabSz="9144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altLang="en-US"/>
              <a:t>Encourage feature upgrades &amp; listing optimization</a:t>
            </a:r>
            <a:endParaRPr lang="en-US" altLang="en-US">
              <a:ea typeface="Calibri" panose="020F0502020204030204"/>
              <a:cs typeface="Calibri" panose="020F0502020204030204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altLang="en-US"/>
              <a:t>Creates compounding growth (more bookings → more reviews → more revenue.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B6895A6-25CC-31F7-D48C-3D253CDFF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068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2B3A-2DCE-9BA7-78A4-C5053F237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3BA2F9-2C2A-748D-38AD-F5A8F445B5F5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18AB134-1056-0E08-D605-17B7AB6F7D58}"/>
              </a:ext>
            </a:extLst>
          </p:cNvPr>
          <p:cNvSpPr/>
          <p:nvPr/>
        </p:nvSpPr>
        <p:spPr>
          <a:xfrm>
            <a:off x="0" y="97536"/>
            <a:ext cx="73152" cy="676046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087D4E-594C-E2E1-2EB6-1259F5DCD956}"/>
              </a:ext>
            </a:extLst>
          </p:cNvPr>
          <p:cNvSpPr/>
          <p:nvPr/>
        </p:nvSpPr>
        <p:spPr>
          <a:xfrm>
            <a:off x="73152" y="6644640"/>
            <a:ext cx="12118848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409414-E83B-66C6-B1C0-EF0E140BA33A}"/>
              </a:ext>
            </a:extLst>
          </p:cNvPr>
          <p:cNvSpPr/>
          <p:nvPr/>
        </p:nvSpPr>
        <p:spPr>
          <a:xfrm>
            <a:off x="118872" y="1187933"/>
            <a:ext cx="5902406" cy="2381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/>
          </a:p>
          <a:p>
            <a:endParaRPr lang="en-US" sz="2400" b="1"/>
          </a:p>
          <a:p>
            <a:endParaRPr lang="en-US" sz="2400" b="1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F1E1065-D769-BF31-EFA5-985826602E10}"/>
              </a:ext>
            </a:extLst>
          </p:cNvPr>
          <p:cNvSpPr/>
          <p:nvPr/>
        </p:nvSpPr>
        <p:spPr>
          <a:xfrm>
            <a:off x="118872" y="581980"/>
            <a:ext cx="8123085" cy="59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3427D3-C0A4-728B-32FF-5F33829A124D}"/>
              </a:ext>
            </a:extLst>
          </p:cNvPr>
          <p:cNvSpPr/>
          <p:nvPr/>
        </p:nvSpPr>
        <p:spPr>
          <a:xfrm>
            <a:off x="209489" y="2589934"/>
            <a:ext cx="8123085" cy="59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defTabSz="914400">
              <a:defRPr/>
            </a:pPr>
            <a:r>
              <a:rPr lang="en-US" sz="3200" b="1"/>
              <a:t>Data Limitations</a:t>
            </a: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9AC27D7B-763B-FB7D-290D-5FF858E107ED}"/>
              </a:ext>
            </a:extLst>
          </p:cNvPr>
          <p:cNvSpPr/>
          <p:nvPr/>
        </p:nvSpPr>
        <p:spPr>
          <a:xfrm>
            <a:off x="3355223" y="581980"/>
            <a:ext cx="45719" cy="5722167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8AD9A-06F9-4C34-D371-C2EB00428C6A}"/>
              </a:ext>
            </a:extLst>
          </p:cNvPr>
          <p:cNvSpPr txBox="1"/>
          <p:nvPr/>
        </p:nvSpPr>
        <p:spPr>
          <a:xfrm>
            <a:off x="3635298" y="581980"/>
            <a:ext cx="862985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Moderate Model Fit:</a:t>
            </a:r>
          </a:p>
          <a:p>
            <a:endParaRPr 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Log-log model explains </a:t>
            </a:r>
            <a:r>
              <a:rPr lang="en-US" b="1"/>
              <a:t>57.4% of revenue variation</a:t>
            </a:r>
            <a:r>
              <a:rPr lang="en-US"/>
              <a:t> → ~42.6% remains unexplained</a:t>
            </a:r>
          </a:p>
          <a:p>
            <a:endParaRPr lang="en-US"/>
          </a:p>
          <a:p>
            <a:r>
              <a:rPr lang="en-US" b="1"/>
              <a:t>Missing Key Drivers:</a:t>
            </a:r>
            <a:r>
              <a:rPr lang="en-US"/>
              <a:t> Important factors not included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listing photos quality, host response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seasonality (calendar data not used)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neighbourhood</a:t>
            </a:r>
            <a:r>
              <a:rPr lang="en-US"/>
              <a:t> demand signals (review data not used)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proximity to tourist attractions</a:t>
            </a:r>
            <a:br>
              <a:rPr lang="en-US"/>
            </a:br>
            <a:endParaRPr lang="en-US"/>
          </a:p>
          <a:p>
            <a:r>
              <a:rPr lang="en-US" b="1"/>
              <a:t>🔬 Future Research:</a:t>
            </a:r>
          </a:p>
          <a:p>
            <a:r>
              <a:rPr lang="en-US" b="1"/>
              <a:t>Interaction Effects: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Explore combined effects (e.g., </a:t>
            </a:r>
            <a:r>
              <a:rPr lang="en-US" i="1" err="1"/>
              <a:t>Superhost</a:t>
            </a:r>
            <a:r>
              <a:rPr lang="en-US" i="1"/>
              <a:t> × Central Tokyo</a:t>
            </a:r>
            <a:r>
              <a:rPr lang="en-US"/>
              <a:t>) </a:t>
            </a:r>
            <a:endParaRPr lang="en-US" b="1"/>
          </a:p>
          <a:p>
            <a:br>
              <a:rPr lang="en-US"/>
            </a:br>
            <a:r>
              <a:rPr lang="en-US" b="1"/>
              <a:t>Incorporate Calendar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Capture seasonality, pricing trends, and occupancy pattern</a:t>
            </a:r>
            <a:br>
              <a:rPr lang="en-US"/>
            </a:br>
            <a:endParaRPr lang="en-US" b="1"/>
          </a:p>
          <a:p>
            <a:r>
              <a:rPr lang="en-US" b="1"/>
              <a:t>Feature Expansion: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Include host behavior, listing quality, and location granularity</a:t>
            </a:r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87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50331-6F01-F4CD-61A8-CDA4314D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406420-A4AA-7284-21A7-4586FD549020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6C8CB4C-839F-899F-D330-B50B68C47FDA}"/>
              </a:ext>
            </a:extLst>
          </p:cNvPr>
          <p:cNvSpPr/>
          <p:nvPr/>
        </p:nvSpPr>
        <p:spPr>
          <a:xfrm>
            <a:off x="0" y="97536"/>
            <a:ext cx="73152" cy="676046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D3BF33F-A907-4658-E918-9950828FB6E6}"/>
              </a:ext>
            </a:extLst>
          </p:cNvPr>
          <p:cNvSpPr/>
          <p:nvPr/>
        </p:nvSpPr>
        <p:spPr>
          <a:xfrm>
            <a:off x="73152" y="6644640"/>
            <a:ext cx="12118848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20B60D8-3D5D-83EE-3B4C-B7F7C355F491}"/>
              </a:ext>
            </a:extLst>
          </p:cNvPr>
          <p:cNvSpPr/>
          <p:nvPr/>
        </p:nvSpPr>
        <p:spPr>
          <a:xfrm>
            <a:off x="118872" y="1187933"/>
            <a:ext cx="5902406" cy="2381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/>
          </a:p>
          <a:p>
            <a:endParaRPr lang="en-US" sz="2400" b="1"/>
          </a:p>
          <a:p>
            <a:endParaRPr lang="en-US" sz="2400" b="1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FEE145E-DD42-6F41-838F-05B15EA61546}"/>
              </a:ext>
            </a:extLst>
          </p:cNvPr>
          <p:cNvSpPr/>
          <p:nvPr/>
        </p:nvSpPr>
        <p:spPr>
          <a:xfrm>
            <a:off x="118872" y="137159"/>
            <a:ext cx="8123085" cy="59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3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576AF-F1DD-95AA-D29D-448F1F549EA7}"/>
              </a:ext>
            </a:extLst>
          </p:cNvPr>
          <p:cNvSpPr txBox="1"/>
          <p:nvPr/>
        </p:nvSpPr>
        <p:spPr>
          <a:xfrm>
            <a:off x="3879535" y="1882001"/>
            <a:ext cx="41019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/>
              <a:t>       </a:t>
            </a:r>
            <a:r>
              <a:rPr lang="en-US" sz="800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848134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C744A-FDF5-5C53-15DB-54C3C43E3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B436FB-B686-4655-01CB-AB34C72535E2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13B181-A0F6-E75A-5C7D-2006F557DBE0}"/>
              </a:ext>
            </a:extLst>
          </p:cNvPr>
          <p:cNvSpPr/>
          <p:nvPr/>
        </p:nvSpPr>
        <p:spPr>
          <a:xfrm>
            <a:off x="0" y="97536"/>
            <a:ext cx="73152" cy="676046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B6785A6-DD76-3D38-BB2A-626867BFDBFC}"/>
              </a:ext>
            </a:extLst>
          </p:cNvPr>
          <p:cNvSpPr/>
          <p:nvPr/>
        </p:nvSpPr>
        <p:spPr>
          <a:xfrm>
            <a:off x="73152" y="6644640"/>
            <a:ext cx="12118848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959CC16-59A9-8837-CA9F-4A13C38E3D8B}"/>
              </a:ext>
            </a:extLst>
          </p:cNvPr>
          <p:cNvSpPr/>
          <p:nvPr/>
        </p:nvSpPr>
        <p:spPr>
          <a:xfrm>
            <a:off x="118872" y="1187933"/>
            <a:ext cx="5902406" cy="2381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/>
          </a:p>
          <a:p>
            <a:endParaRPr lang="en-US" sz="2400" b="1"/>
          </a:p>
          <a:p>
            <a:endParaRPr lang="en-US" sz="2400" b="1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24F36CE-70C6-4B2F-9E88-96FADCEFC549}"/>
              </a:ext>
            </a:extLst>
          </p:cNvPr>
          <p:cNvSpPr/>
          <p:nvPr/>
        </p:nvSpPr>
        <p:spPr>
          <a:xfrm>
            <a:off x="118872" y="137159"/>
            <a:ext cx="8123085" cy="59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3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639ABE-8D53-C874-D094-E21B73E1F6E7}"/>
              </a:ext>
            </a:extLst>
          </p:cNvPr>
          <p:cNvSpPr txBox="1"/>
          <p:nvPr/>
        </p:nvSpPr>
        <p:spPr>
          <a:xfrm>
            <a:off x="118872" y="162194"/>
            <a:ext cx="812308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/>
              <a:t>Regression Equations </a:t>
            </a:r>
            <a:endParaRPr lang="en-US" sz="8000" b="1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DA5E4-5AAA-F1A8-2C5C-969C4D3123DB}"/>
              </a:ext>
            </a:extLst>
          </p:cNvPr>
          <p:cNvSpPr txBox="1"/>
          <p:nvPr/>
        </p:nvSpPr>
        <p:spPr>
          <a:xfrm>
            <a:off x="118872" y="993191"/>
            <a:ext cx="1207312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Linear Model :</a:t>
            </a:r>
            <a:r>
              <a:rPr lang="en-US" b="1"/>
              <a:t> </a:t>
            </a:r>
            <a:r>
              <a:rPr lang="en-US"/>
              <a:t>-3,832,422 + 47096.438(</a:t>
            </a:r>
            <a:r>
              <a:rPr lang="en-US" err="1"/>
              <a:t>hotel_style</a:t>
            </a:r>
            <a:r>
              <a:rPr lang="en-US"/>
              <a:t>) –  469601 (</a:t>
            </a:r>
            <a:r>
              <a:rPr lang="en-US" err="1"/>
              <a:t>private_room</a:t>
            </a:r>
            <a:r>
              <a:rPr lang="en-US"/>
              <a:t>) - 700104.5 (</a:t>
            </a:r>
            <a:r>
              <a:rPr lang="en-US" err="1"/>
              <a:t>shared_room</a:t>
            </a:r>
            <a:r>
              <a:rPr lang="en-US"/>
              <a:t>) + 571595.57 (</a:t>
            </a:r>
            <a:r>
              <a:rPr lang="en-US" err="1"/>
              <a:t>unique_stay</a:t>
            </a:r>
            <a:r>
              <a:rPr lang="en-US"/>
              <a:t>) + 1512359 (Central Tokyo) + 723431.12 (East Tokyo) + 803756.53 (South Tokyo) – 549935.39 (West Tokyo) + 602644.04 (</a:t>
            </a:r>
            <a:r>
              <a:rPr lang="en-US" err="1"/>
              <a:t>Superhost</a:t>
            </a:r>
            <a:r>
              <a:rPr lang="en-US"/>
              <a:t>) + 197,711.03 (</a:t>
            </a:r>
            <a:r>
              <a:rPr lang="en-US" err="1"/>
              <a:t>Accomodates</a:t>
            </a:r>
            <a:r>
              <a:rPr lang="en-US"/>
              <a:t>) + 389, 245.91 (Bedrooms) + 360, 826.53 (Review Score Rating) + 9,520.92 (Number of Reviews) + 34,973.55 (Amenities) + </a:t>
            </a:r>
            <a:r>
              <a:rPr lang="el-GR"/>
              <a:t>ε</a:t>
            </a:r>
            <a:endParaRPr lang="en-US" sz="2000"/>
          </a:p>
          <a:p>
            <a:endParaRPr lang="en-US" sz="2000"/>
          </a:p>
          <a:p>
            <a:r>
              <a:rPr lang="en-US" sz="2000" b="1"/>
              <a:t>Semi-Log Model</a:t>
            </a:r>
            <a:r>
              <a:rPr lang="en-US" sz="2000"/>
              <a:t>: </a:t>
            </a:r>
            <a:r>
              <a:rPr lang="en-US"/>
              <a:t>10.62647 − 0.15741 (</a:t>
            </a:r>
            <a:r>
              <a:rPr lang="en-US" err="1"/>
              <a:t>hotel_style</a:t>
            </a:r>
            <a:r>
              <a:rPr lang="en-US"/>
              <a:t>) − 0.532578 (</a:t>
            </a:r>
            <a:r>
              <a:rPr lang="en-US" err="1"/>
              <a:t>private_room</a:t>
            </a:r>
            <a:r>
              <a:rPr lang="en-US"/>
              <a:t>) − 1.147226(</a:t>
            </a:r>
            <a:r>
              <a:rPr lang="en-US" err="1"/>
              <a:t>shared_room</a:t>
            </a:r>
            <a:r>
              <a:rPr lang="en-US"/>
              <a:t>) + 0.102892(</a:t>
            </a:r>
            <a:r>
              <a:rPr lang="en-US" err="1"/>
              <a:t>unique_stay</a:t>
            </a:r>
            <a:r>
              <a:rPr lang="en-US"/>
              <a:t>) + 0.8124835(Central Tokyo) + 0.4546729(East Tokyo) + 0.4599184(South Tokyo) + 0.3759864(West Tokyo) + 0.2889199(Review Score) + 0.0052688(Number of Reviews) + 0.1063913(Bedrooms) + 0.0797315(Accommodates) + 0.3159109(</a:t>
            </a:r>
            <a:r>
              <a:rPr lang="en-US" err="1"/>
              <a:t>Superhost</a:t>
            </a:r>
            <a:r>
              <a:rPr lang="en-US"/>
              <a:t>) + 0.0174491(Amenities) + </a:t>
            </a:r>
            <a:r>
              <a:rPr lang="el-GR"/>
              <a:t>ε</a:t>
            </a:r>
            <a:endParaRPr lang="el-GR" sz="2000"/>
          </a:p>
          <a:p>
            <a:endParaRPr lang="en-US" sz="2000"/>
          </a:p>
          <a:p>
            <a:r>
              <a:rPr lang="en-US" sz="2000" b="1"/>
              <a:t>Log-Log Model : </a:t>
            </a:r>
            <a:r>
              <a:rPr lang="en-US"/>
              <a:t>log(Estimated Annual Revenue)= 8.9808305 + 0.2875812 log(Amenities+1) + 0.7992211 log(Review Score) + 0.4656384 log(Number of Reviews) + 0.3338908log(Bedrooms+1) + 0.4024934 log(Accommodates) − 0.192305 (</a:t>
            </a:r>
            <a:r>
              <a:rPr lang="en-US" err="1"/>
              <a:t>hotel_style</a:t>
            </a:r>
            <a:r>
              <a:rPr lang="en-US"/>
              <a:t>) − 0.524523(</a:t>
            </a:r>
            <a:r>
              <a:rPr lang="en-US" err="1"/>
              <a:t>private_room</a:t>
            </a:r>
            <a:r>
              <a:rPr lang="en-US"/>
              <a:t>) − 1.062015 (</a:t>
            </a:r>
            <a:r>
              <a:rPr lang="en-US" err="1"/>
              <a:t>shared_room</a:t>
            </a:r>
            <a:r>
              <a:rPr lang="en-US"/>
              <a:t>) −0.008846 (</a:t>
            </a:r>
            <a:r>
              <a:rPr lang="en-US" err="1"/>
              <a:t>unique_stay</a:t>
            </a:r>
            <a:r>
              <a:rPr lang="en-US"/>
              <a:t>) + 0.7591168(Central Tokyo) + 0.4220898(East Tokyo) + 0.4226478(South Tokyo) + 0.3640181(West Tokyo) + 0.2197603(</a:t>
            </a:r>
            <a:r>
              <a:rPr lang="en-US" err="1"/>
              <a:t>Superhost</a:t>
            </a:r>
            <a:r>
              <a:rPr lang="en-US"/>
              <a:t>) + </a:t>
            </a:r>
            <a:r>
              <a:rPr lang="el-GR"/>
              <a:t>ε</a:t>
            </a:r>
            <a:endParaRPr lang="el-GR" sz="2000"/>
          </a:p>
          <a:p>
            <a:br>
              <a:rPr lang="el-GR" sz="2000"/>
            </a:br>
            <a:endParaRPr lang="en-US" sz="2000" b="1"/>
          </a:p>
          <a:p>
            <a:br>
              <a:rPr lang="el-GR" sz="2000"/>
            </a:b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4094085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252</TotalTime>
  <Words>2250</Words>
  <Application>Microsoft Office PowerPoint</Application>
  <PresentationFormat>Widescreen</PresentationFormat>
  <Paragraphs>370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Anthropic Sans</vt:lpstr>
      <vt:lpstr>Aptos</vt:lpstr>
      <vt:lpstr>Arial</vt:lpstr>
      <vt:lpstr>Arial Black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yasmeen rajkotwalla</dc:creator>
  <cp:lastModifiedBy>devika desai</cp:lastModifiedBy>
  <cp:revision>5</cp:revision>
  <dcterms:created xsi:type="dcterms:W3CDTF">2026-05-01T16:51:01Z</dcterms:created>
  <dcterms:modified xsi:type="dcterms:W3CDTF">2026-08-27T22:57:00Z</dcterms:modified>
</cp:coreProperties>
</file>